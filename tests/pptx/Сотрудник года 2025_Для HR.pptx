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7"/>
  </p:notesMasterIdLst>
  <p:handoutMasterIdLst>
    <p:handoutMasterId r:id="rId18"/>
  </p:handoutMasterIdLst>
  <p:sldIdLst>
    <p:sldId id="308" r:id="rId2"/>
    <p:sldId id="265" r:id="rId3"/>
    <p:sldId id="270" r:id="rId4"/>
    <p:sldId id="309" r:id="rId5"/>
    <p:sldId id="280" r:id="rId6"/>
    <p:sldId id="297" r:id="rId7"/>
    <p:sldId id="274" r:id="rId8"/>
    <p:sldId id="310" r:id="rId9"/>
    <p:sldId id="282" r:id="rId10"/>
    <p:sldId id="286" r:id="rId11"/>
    <p:sldId id="288" r:id="rId12"/>
    <p:sldId id="283" r:id="rId13"/>
    <p:sldId id="311" r:id="rId14"/>
    <p:sldId id="299" r:id="rId15"/>
    <p:sldId id="295" r:id="rId16"/>
  </p:sldIdLst>
  <p:sldSz cx="12192000" cy="6858000"/>
  <p:notesSz cx="6858000" cy="9144000"/>
  <p:defaultTextStyle>
    <a:defPPr>
      <a:defRPr lang="ru-RU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32B"/>
    <a:srgbClr val="007BD7"/>
    <a:srgbClr val="FFB719"/>
    <a:srgbClr val="00A6EF"/>
    <a:srgbClr val="FFB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0" autoAdjust="0"/>
    <p:restoredTop sz="94660"/>
  </p:normalViewPr>
  <p:slideViewPr>
    <p:cSldViewPr snapToGrid="0">
      <p:cViewPr varScale="1">
        <p:scale>
          <a:sx n="82" d="100"/>
          <a:sy n="82" d="100"/>
        </p:scale>
        <p:origin x="50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B91EF-284A-4C9E-8AFB-9348E60A9952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EA6C13-F9D7-4545-A927-EA6A3857FD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8039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4896D-8531-4E6F-A118-1F8B9D35BEC6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F8D2B-917F-4A45-9602-8CD09337E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517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Убрать цель</a:t>
            </a:r>
          </a:p>
        </p:txBody>
      </p:sp>
    </p:spTree>
    <p:extLst>
      <p:ext uri="{BB962C8B-B14F-4D97-AF65-F5344CB8AC3E}">
        <p14:creationId xmlns:p14="http://schemas.microsoft.com/office/powerpoint/2010/main" val="3715988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Эффективность – не лучшая идея</a:t>
            </a:r>
          </a:p>
          <a:p>
            <a:r>
              <a:rPr lang="ru-RU" dirty="0"/>
              <a:t>Лучший в инновациях – про менторство </a:t>
            </a:r>
          </a:p>
          <a:p>
            <a:r>
              <a:rPr lang="ru-RU" dirty="0"/>
              <a:t>Сотрудничество – думают о других, помогают, интересуются</a:t>
            </a:r>
          </a:p>
        </p:txBody>
      </p:sp>
    </p:spTree>
    <p:extLst>
      <p:ext uri="{BB962C8B-B14F-4D97-AF65-F5344CB8AC3E}">
        <p14:creationId xmlns:p14="http://schemas.microsoft.com/office/powerpoint/2010/main" val="2894908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Грамоты за подписью </a:t>
            </a:r>
            <a:r>
              <a:rPr lang="ru-RU" dirty="0" err="1"/>
              <a:t>владислава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6359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2468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918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1025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159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8986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Закрепить ответственных на участках за проведение конкурса</a:t>
            </a:r>
          </a:p>
        </p:txBody>
      </p:sp>
    </p:spTree>
    <p:extLst>
      <p:ext uri="{BB962C8B-B14F-4D97-AF65-F5344CB8AC3E}">
        <p14:creationId xmlns:p14="http://schemas.microsoft.com/office/powerpoint/2010/main" val="3842449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Награждение в УК на Дне компании</a:t>
            </a:r>
          </a:p>
          <a:p>
            <a:r>
              <a:rPr lang="ru-RU" dirty="0"/>
              <a:t>Остальные на БЕ</a:t>
            </a:r>
          </a:p>
        </p:txBody>
      </p:sp>
    </p:spTree>
    <p:extLst>
      <p:ext uri="{BB962C8B-B14F-4D97-AF65-F5344CB8AC3E}">
        <p14:creationId xmlns:p14="http://schemas.microsoft.com/office/powerpoint/2010/main" val="287265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1235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2859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2BBED4-03F6-F1B3-42BF-FF7BBD608CA3}"/>
              </a:ext>
            </a:extLst>
          </p:cNvPr>
          <p:cNvSpPr/>
          <p:nvPr userDrawn="1"/>
        </p:nvSpPr>
        <p:spPr>
          <a:xfrm>
            <a:off x="0" y="6497515"/>
            <a:ext cx="12192000" cy="3604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5" name="Picture 4" descr="A logo on a black background">
            <a:extLst>
              <a:ext uri="{FF2B5EF4-FFF2-40B4-BE49-F238E27FC236}">
                <a16:creationId xmlns:a16="http://schemas.microsoft.com/office/drawing/2014/main" id="{6AB04B1F-FAC9-FE49-4E2B-F396894AF7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28" y="-51881"/>
            <a:ext cx="2650096" cy="140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227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2BBED4-03F6-F1B3-42BF-FF7BBD608CA3}"/>
              </a:ext>
            </a:extLst>
          </p:cNvPr>
          <p:cNvSpPr/>
          <p:nvPr userDrawn="1"/>
        </p:nvSpPr>
        <p:spPr>
          <a:xfrm>
            <a:off x="0" y="6497515"/>
            <a:ext cx="12192000" cy="3604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A44F72-30B2-C34E-A458-2C61E8BB7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8121" y="374426"/>
            <a:ext cx="18034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81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1DB8E4-9739-FC9E-394F-9A6CC13EEF8B}"/>
              </a:ext>
            </a:extLst>
          </p:cNvPr>
          <p:cNvSpPr/>
          <p:nvPr userDrawn="1"/>
        </p:nvSpPr>
        <p:spPr>
          <a:xfrm>
            <a:off x="0" y="6497515"/>
            <a:ext cx="12192000" cy="3604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CC97AB-7C71-2AF7-DBDB-E0A06024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26" y="327801"/>
            <a:ext cx="9010021" cy="1325563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2400" cap="all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AA29C-275F-B3EC-5B7D-0CD474009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26" y="1825625"/>
            <a:ext cx="10809274" cy="4351338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AEB0C-DBEC-E408-79D7-8DD6AEDB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0913" y="6128593"/>
            <a:ext cx="1343865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18BA5DC6-0BB6-C54C-B620-1395B4AFADBB}" type="slidenum">
              <a:rPr lang="en-RU"/>
              <a:pPr/>
              <a:t>‹#›</a:t>
            </a:fld>
            <a:endParaRPr lang="en-RU"/>
          </a:p>
        </p:txBody>
      </p:sp>
      <p:pic>
        <p:nvPicPr>
          <p:cNvPr id="8" name="Picture 7" descr="A logo on a black background">
            <a:extLst>
              <a:ext uri="{FF2B5EF4-FFF2-40B4-BE49-F238E27FC236}">
                <a16:creationId xmlns:a16="http://schemas.microsoft.com/office/drawing/2014/main" id="{D3D8D1C9-2819-3401-0F28-9EF5157A9C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2483" y="-50490"/>
            <a:ext cx="2255108" cy="119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0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1DB8E4-9739-FC9E-394F-9A6CC13EEF8B}"/>
              </a:ext>
            </a:extLst>
          </p:cNvPr>
          <p:cNvSpPr/>
          <p:nvPr userDrawn="1"/>
        </p:nvSpPr>
        <p:spPr>
          <a:xfrm>
            <a:off x="0" y="6497515"/>
            <a:ext cx="12192000" cy="3604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AEB0C-DBEC-E408-79D7-8DD6AEDB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0913" y="6128593"/>
            <a:ext cx="1343865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18BA5DC6-0BB6-C54C-B620-1395B4AFADBB}" type="slidenum">
              <a:rPr lang="en-RU"/>
              <a:pPr/>
              <a:t>‹#›</a:t>
            </a:fld>
            <a:endParaRPr lang="en-RU" dirty="0"/>
          </a:p>
        </p:txBody>
      </p:sp>
      <p:pic>
        <p:nvPicPr>
          <p:cNvPr id="5" name="Picture 4" descr="A logo on a black background">
            <a:extLst>
              <a:ext uri="{FF2B5EF4-FFF2-40B4-BE49-F238E27FC236}">
                <a16:creationId xmlns:a16="http://schemas.microsoft.com/office/drawing/2014/main" id="{A24D9C67-B169-3CE0-7D1A-1DF012CCCB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2483" y="-50490"/>
            <a:ext cx="2255108" cy="119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834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1DB8E4-9739-FC9E-394F-9A6CC13EEF8B}"/>
              </a:ext>
            </a:extLst>
          </p:cNvPr>
          <p:cNvSpPr/>
          <p:nvPr userDrawn="1"/>
        </p:nvSpPr>
        <p:spPr>
          <a:xfrm>
            <a:off x="0" y="6497515"/>
            <a:ext cx="12192000" cy="3604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AEB0C-DBEC-E408-79D7-8DD6AEDB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0913" y="6128593"/>
            <a:ext cx="1343865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18BA5DC6-0BB6-C54C-B620-1395B4AFADBB}" type="slidenum">
              <a:rPr lang="en-RU"/>
              <a:pPr/>
              <a:t>‹#›</a:t>
            </a:fld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EAEEDE-9BE9-3787-7886-0FEAC73CEB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11288" y="1573213"/>
            <a:ext cx="10780712" cy="5284787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RU"/>
          </a:p>
        </p:txBody>
      </p:sp>
      <p:pic>
        <p:nvPicPr>
          <p:cNvPr id="4" name="Picture 3" descr="A logo on a black background">
            <a:extLst>
              <a:ext uri="{FF2B5EF4-FFF2-40B4-BE49-F238E27FC236}">
                <a16:creationId xmlns:a16="http://schemas.microsoft.com/office/drawing/2014/main" id="{A5B92213-1D3A-6D91-FA59-95AFAE67F8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919" y="-50490"/>
            <a:ext cx="2255108" cy="119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4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616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199DD8-606B-33E4-7363-80338BA71D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868" cy="685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38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9C0709-4CD5-716E-F0EC-D43C55DC8385}"/>
              </a:ext>
            </a:extLst>
          </p:cNvPr>
          <p:cNvSpPr/>
          <p:nvPr userDrawn="1"/>
        </p:nvSpPr>
        <p:spPr>
          <a:xfrm>
            <a:off x="0" y="6497515"/>
            <a:ext cx="12192000" cy="3604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3289E3-AB5C-81EF-C203-229EF876189D}"/>
              </a:ext>
            </a:extLst>
          </p:cNvPr>
          <p:cNvSpPr/>
          <p:nvPr userDrawn="1"/>
        </p:nvSpPr>
        <p:spPr>
          <a:xfrm>
            <a:off x="8479850" y="3036391"/>
            <a:ext cx="3712150" cy="38216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D36328-2B35-9E7D-E75C-FD0CB5E7000B}"/>
              </a:ext>
            </a:extLst>
          </p:cNvPr>
          <p:cNvSpPr txBox="1">
            <a:spLocks/>
          </p:cNvSpPr>
          <p:nvPr userDrawn="1"/>
        </p:nvSpPr>
        <p:spPr>
          <a:xfrm>
            <a:off x="11165784" y="6214287"/>
            <a:ext cx="671508" cy="175077"/>
          </a:xfrm>
          <a:prstGeom prst="rect">
            <a:avLst/>
          </a:prstGeom>
        </p:spPr>
        <p:txBody>
          <a:bodyPr lIns="0" tIns="0" rIns="0" bIns="0"/>
          <a:lstStyle>
            <a:defPPr>
              <a:defRPr lang="ru-RU"/>
            </a:defPPr>
            <a:lvl1pPr marL="0" algn="r" defTabSz="914377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8DD10B-4743-46EE-A4FE-CF465A2AC0D6}" type="slidenum">
              <a:rPr lang="ru-RU" sz="1200" smtClean="0"/>
              <a:pPr/>
              <a:t>‹#›</a:t>
            </a:fld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807050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7B70ED-353E-766D-CDA9-5BEF139DDE16}"/>
              </a:ext>
            </a:extLst>
          </p:cNvPr>
          <p:cNvSpPr/>
          <p:nvPr userDrawn="1"/>
        </p:nvSpPr>
        <p:spPr>
          <a:xfrm>
            <a:off x="0" y="6497515"/>
            <a:ext cx="12192000" cy="3604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A5FF1-D412-9C61-6543-A73067B00459}"/>
              </a:ext>
            </a:extLst>
          </p:cNvPr>
          <p:cNvSpPr txBox="1"/>
          <p:nvPr userDrawn="1"/>
        </p:nvSpPr>
        <p:spPr>
          <a:xfrm>
            <a:off x="544526" y="6122923"/>
            <a:ext cx="5028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cap="all" dirty="0">
                <a:solidFill>
                  <a:schemeClr val="accent1"/>
                </a:solidFill>
                <a:cs typeface="Arial" panose="020B0604020202020204" pitchFamily="34" charset="0"/>
              </a:rPr>
              <a:t>© 202</a:t>
            </a:r>
            <a:r>
              <a:rPr lang="en-US" sz="1000" cap="all" dirty="0">
                <a:solidFill>
                  <a:schemeClr val="accent1"/>
                </a:solidFill>
                <a:cs typeface="Arial" panose="020B0604020202020204" pitchFamily="34" charset="0"/>
              </a:rPr>
              <a:t>5</a:t>
            </a:r>
            <a:r>
              <a:rPr lang="ru-RU" sz="1000" cap="all" dirty="0">
                <a:solidFill>
                  <a:schemeClr val="accent1"/>
                </a:solidFill>
                <a:cs typeface="Arial" panose="020B0604020202020204" pitchFamily="34" charset="0"/>
              </a:rPr>
              <a:t> «ХАЙЛЭНД ГОЛД»</a:t>
            </a:r>
            <a:endParaRPr lang="en-US" sz="1000" cap="all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CA08CE7C-7438-CA99-5450-79C4343912A5}"/>
              </a:ext>
            </a:extLst>
          </p:cNvPr>
          <p:cNvSpPr txBox="1">
            <a:spLocks/>
          </p:cNvSpPr>
          <p:nvPr userDrawn="1"/>
        </p:nvSpPr>
        <p:spPr>
          <a:xfrm>
            <a:off x="544527" y="3028606"/>
            <a:ext cx="8011644" cy="4247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cap="all">
                <a:solidFill>
                  <a:schemeClr val="accent1"/>
                </a:solidFill>
              </a:rPr>
              <a:t>Спасибо</a:t>
            </a:r>
          </a:p>
          <a:p>
            <a:r>
              <a:rPr lang="ru-RU" sz="4000" cap="all">
                <a:solidFill>
                  <a:schemeClr val="accent1"/>
                </a:solidFill>
              </a:rPr>
              <a:t>За внимание</a:t>
            </a:r>
            <a:endParaRPr lang="en-RU" sz="4000" cap="all">
              <a:solidFill>
                <a:schemeClr val="accent1"/>
              </a:solidFill>
            </a:endParaRPr>
          </a:p>
        </p:txBody>
      </p:sp>
      <p:pic>
        <p:nvPicPr>
          <p:cNvPr id="7" name="Picture 6" descr="A logo on a black background">
            <a:extLst>
              <a:ext uri="{FF2B5EF4-FFF2-40B4-BE49-F238E27FC236}">
                <a16:creationId xmlns:a16="http://schemas.microsoft.com/office/drawing/2014/main" id="{E293B73D-1FFF-1D85-1863-7F14CA712D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28" y="-51881"/>
            <a:ext cx="2650096" cy="140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2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8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794" r:id="rId3"/>
    <p:sldLayoutId id="2147483800" r:id="rId4"/>
    <p:sldLayoutId id="2147483803" r:id="rId5"/>
    <p:sldLayoutId id="2147483799" r:id="rId6"/>
    <p:sldLayoutId id="2147483802" r:id="rId7"/>
    <p:sldLayoutId id="2147483805" r:id="rId8"/>
    <p:sldLayoutId id="214748380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10" Type="http://schemas.microsoft.com/office/2007/relationships/hdphoto" Target="../media/hdphoto5.wdp"/><Relationship Id="rId4" Type="http://schemas.microsoft.com/office/2007/relationships/hdphoto" Target="../media/hdphoto2.wdp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95539877-CD37-4368-8B6E-C59115FF8A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84408" y="245278"/>
            <a:ext cx="1632496" cy="500632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680BC509-DCE4-48C0-A1A3-6F01DC1BF2A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37379" y="194"/>
            <a:ext cx="7253563" cy="6532686"/>
          </a:xfrm>
          <a:prstGeom prst="rect">
            <a:avLst/>
          </a:prstGeom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11ECA3EA-5089-4D11-B236-ECA6321650A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42" y="194"/>
            <a:ext cx="7341272" cy="65326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8FD14FE-1D30-496F-B79B-CC182A96F9FB}"/>
              </a:ext>
            </a:extLst>
          </p:cNvPr>
          <p:cNvSpPr txBox="1"/>
          <p:nvPr/>
        </p:nvSpPr>
        <p:spPr>
          <a:xfrm>
            <a:off x="334900" y="2875197"/>
            <a:ext cx="7609142" cy="1107996"/>
          </a:xfrm>
          <a:prstGeom prst="rect">
            <a:avLst/>
          </a:prstGeom>
          <a:noFill/>
        </p:spPr>
        <p:txBody>
          <a:bodyPr wrap="square" lIns="121920" tIns="60960" rIns="121920" bIns="60960" rtlCol="0" anchor="ctr">
            <a:spAutoFit/>
          </a:bodyPr>
          <a:lstStyle/>
          <a:p>
            <a:pPr fontAlgn="ctr"/>
            <a:r>
              <a:rPr lang="ru-RU" sz="3200" b="1" dirty="0">
                <a:solidFill>
                  <a:schemeClr val="bg1"/>
                </a:solidFill>
                <a:latin typeface="Montserrat "/>
              </a:rPr>
              <a:t>Корпоративная премия </a:t>
            </a:r>
          </a:p>
          <a:p>
            <a:pPr fontAlgn="ctr"/>
            <a:r>
              <a:rPr lang="ru-RU" sz="3200" b="1" dirty="0">
                <a:solidFill>
                  <a:schemeClr val="bg1"/>
                </a:solidFill>
                <a:latin typeface="Montserrat "/>
              </a:rPr>
              <a:t>СОТРУДНИК ГОДА 2025</a:t>
            </a:r>
          </a:p>
        </p:txBody>
      </p:sp>
      <p:pic>
        <p:nvPicPr>
          <p:cNvPr id="17" name="Picture 6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480B5E31-D7E3-4743-961D-EF87D37795F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6648" y="387518"/>
            <a:ext cx="1632496" cy="5006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EDB384F-B8A5-4041-B471-95768CF69741}"/>
              </a:ext>
            </a:extLst>
          </p:cNvPr>
          <p:cNvSpPr txBox="1"/>
          <p:nvPr/>
        </p:nvSpPr>
        <p:spPr>
          <a:xfrm>
            <a:off x="544526" y="5725054"/>
            <a:ext cx="5028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cap="all" dirty="0">
                <a:solidFill>
                  <a:schemeClr val="bg1"/>
                </a:solidFill>
                <a:latin typeface="Montserrat" pitchFamily="2" charset="77"/>
                <a:cs typeface="Arial" panose="020B0604020202020204" pitchFamily="34" charset="0"/>
              </a:rPr>
              <a:t>Москва, </a:t>
            </a:r>
            <a:r>
              <a:rPr lang="en-US" sz="1000" cap="all" dirty="0">
                <a:solidFill>
                  <a:schemeClr val="bg1"/>
                </a:solidFill>
                <a:latin typeface="Montserrat" pitchFamily="2" charset="77"/>
                <a:cs typeface="Arial" panose="020B0604020202020204" pitchFamily="34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662691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3"/>
          <p:cNvSpPr txBox="1"/>
          <p:nvPr/>
        </p:nvSpPr>
        <p:spPr>
          <a:xfrm>
            <a:off x="544525" y="1668232"/>
            <a:ext cx="4687232" cy="3498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spcBef>
                <a:spcPts val="1400"/>
              </a:spcBef>
              <a:defRPr sz="1300">
                <a:solidFill>
                  <a:srgbClr val="929DAD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ru-RU" sz="1800" b="1" dirty="0">
                <a:solidFill>
                  <a:schemeClr val="accent1"/>
                </a:solidFill>
                <a:sym typeface="Helvetica"/>
              </a:rPr>
              <a:t>Чествование сотрудников, демонстрирующих свою приверженность ценностям компании.</a:t>
            </a:r>
          </a:p>
          <a:p>
            <a:endParaRPr lang="ru-RU" sz="1800" dirty="0">
              <a:solidFill>
                <a:schemeClr val="accent1"/>
              </a:solidFill>
              <a:sym typeface="Helvetica"/>
            </a:endParaRPr>
          </a:p>
          <a:p>
            <a:r>
              <a:rPr lang="ru-RU" sz="1800" dirty="0">
                <a:solidFill>
                  <a:schemeClr val="accent1"/>
                </a:solidFill>
                <a:sym typeface="Helvetica"/>
              </a:rPr>
              <a:t>Такие сотрудники формируют       нашу культуру, являются       примером и ориентиром          поведения в профессиональной деятельности, показывают        высокие результаты работы. </a:t>
            </a:r>
            <a:endParaRPr sz="1800" dirty="0">
              <a:solidFill>
                <a:schemeClr val="accent1"/>
              </a:solidFill>
              <a:sym typeface="Helvetica"/>
            </a:endParaRPr>
          </a:p>
        </p:txBody>
      </p:sp>
      <p:sp>
        <p:nvSpPr>
          <p:cNvPr id="154" name="Title 15"/>
          <p:cNvSpPr txBox="1">
            <a:spLocks noGrp="1"/>
          </p:cNvSpPr>
          <p:nvPr>
            <p:ph type="title"/>
          </p:nvPr>
        </p:nvSpPr>
        <p:spPr>
          <a:xfrm>
            <a:off x="544525" y="286265"/>
            <a:ext cx="9010023" cy="492438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Цель ПРЕМИИ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2FCF1A-A817-4B25-A82F-5349BF185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788" b="93212" l="4317" r="96506">
                        <a14:foregroundMark x1="17472" y1="93377" x2="20555" y2="75828"/>
                        <a14:foregroundMark x1="20555" y1="75828" x2="22070" y2="23012"/>
                        <a14:foregroundMark x1="10894" y1="30298" x2="6064" y2="48510"/>
                        <a14:foregroundMark x1="6064" y1="48510" x2="12847" y2="88742"/>
                        <a14:foregroundMark x1="24666" y1="57616" x2="23844" y2="78974"/>
                        <a14:foregroundMark x1="23844" y1="78974" x2="18191" y2="92881"/>
                        <a14:foregroundMark x1="18191" y1="92881" x2="6680" y2="92384"/>
                        <a14:foregroundMark x1="5036" y1="84272" x2="4419" y2="93377"/>
                        <a14:foregroundMark x1="12641" y1="34768" x2="19013" y2="49172"/>
                        <a14:foregroundMark x1="19013" y1="49172" x2="19013" y2="49172"/>
                        <a14:foregroundMark x1="9250" y1="9603" x2="12025" y2="33775"/>
                        <a14:foregroundMark x1="9044" y1="7119" x2="8633" y2="22351"/>
                        <a14:foregroundMark x1="8633" y1="22351" x2="9866" y2="26325"/>
                        <a14:backgroundMark x1="49640" y1="36755" x2="51593" y2="80464"/>
                        <a14:backgroundMark x1="44604" y1="33113" x2="63515" y2="78974"/>
                        <a14:backgroundMark x1="63515" y1="78974" x2="63618" y2="83940"/>
                        <a14:backgroundMark x1="46454" y1="31457" x2="39054" y2="54139"/>
                        <a14:backgroundMark x1="39054" y1="54139" x2="42446" y2="89073"/>
                        <a14:backgroundMark x1="38849" y1="50166" x2="38027" y2="79305"/>
                        <a14:backgroundMark x1="38027" y1="79305" x2="38849" y2="87252"/>
                        <a14:backgroundMark x1="56423" y1="51490" x2="59815" y2="57947"/>
                        <a14:backgroundMark x1="59198" y1="49503" x2="61768" y2="54967"/>
                        <a14:backgroundMark x1="56012" y1="83609" x2="46865" y2="90397"/>
                        <a14:backgroundMark x1="46865" y1="90397" x2="46660" y2="90397"/>
                        <a14:backgroundMark x1="37205" y1="50166" x2="38643" y2="81457"/>
                        <a14:backgroundMark x1="35663" y1="79139" x2="41727" y2="93046"/>
                        <a14:backgroundMark x1="41727" y1="93046" x2="52621" y2="91722"/>
                        <a14:backgroundMark x1="52621" y1="91722" x2="57246" y2="93046"/>
                        <a14:backgroundMark x1="36074" y1="86589" x2="38027" y2="94371"/>
                        <a14:backgroundMark x1="73792" y1="51490" x2="89825" y2="56954"/>
                        <a14:backgroundMark x1="80164" y1="32781" x2="85817" y2="46689"/>
                        <a14:backgroundMark x1="79239" y1="35430" x2="79034" y2="43709"/>
                        <a14:backgroundMark x1="76567" y1="35762" x2="78828" y2="40563"/>
                        <a14:backgroundMark x1="14800" y1="10265" x2="23947" y2="16060"/>
                        <a14:backgroundMark x1="23947" y1="16060" x2="80781" y2="16722"/>
                        <a14:backgroundMark x1="84995" y1="11258" x2="23330" y2="13576"/>
                        <a14:backgroundMark x1="16238" y1="11093" x2="75437" y2="13576"/>
                        <a14:backgroundMark x1="18397" y1="11258" x2="51799" y2="11424"/>
                        <a14:backgroundMark x1="51799" y1="11424" x2="58376" y2="11258"/>
                        <a14:backgroundMark x1="91059" y1="11921" x2="67831" y2="19205"/>
                        <a14:backgroundMark x1="90236" y1="11921" x2="75231" y2="15397"/>
                        <a14:backgroundMark x1="14594" y1="15894" x2="31141" y2="18709"/>
                        <a14:backgroundMark x1="31141" y1="18709" x2="43268" y2="17881"/>
                        <a14:backgroundMark x1="15930" y1="20199" x2="60329" y2="19205"/>
                        <a14:backgroundMark x1="60329" y1="19205" x2="79753" y2="19205"/>
                        <a14:backgroundMark x1="60637" y1="20861" x2="87050" y2="19536"/>
                        <a14:backgroundMark x1="87050" y1="19536" x2="87256" y2="19536"/>
                        <a14:backgroundMark x1="93011" y1="8940" x2="19013" y2="9934"/>
                        <a14:backgroundMark x1="19013" y1="9934" x2="13772" y2="18543"/>
                        <a14:backgroundMark x1="13772" y1="18543" x2="36485" y2="21523"/>
                        <a14:backgroundMark x1="36485" y1="21523" x2="63618" y2="21192"/>
                        <a14:backgroundMark x1="63618" y1="21192" x2="88900" y2="21192"/>
                        <a14:backgroundMark x1="88900" y1="21192" x2="91572" y2="10762"/>
                        <a14:backgroundMark x1="91572" y1="10762" x2="91881" y2="10762"/>
                        <a14:backgroundMark x1="94758" y1="7616" x2="92497" y2="21026"/>
                        <a14:backgroundMark x1="92497" y1="21026" x2="93628" y2="23179"/>
                        <a14:backgroundMark x1="95272" y1="6788" x2="92292" y2="8278"/>
                        <a14:backgroundMark x1="90956" y1="21523" x2="90545" y2="23344"/>
                        <a14:backgroundMark x1="96711" y1="5960" x2="94861" y2="11921"/>
                        <a14:backgroundMark x1="97739" y1="5960" x2="97945" y2="8775"/>
                        <a14:backgroundMark x1="95272" y1="13245" x2="96197" y2="23179"/>
                        <a14:backgroundMark x1="96197" y1="15397" x2="96608" y2="2599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03488" y="1076349"/>
            <a:ext cx="7515826" cy="4665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D4F980-9A1F-43E2-B5D1-56C986CCAE0C}"/>
              </a:ext>
            </a:extLst>
          </p:cNvPr>
          <p:cNvSpPr txBox="1"/>
          <p:nvPr/>
        </p:nvSpPr>
        <p:spPr>
          <a:xfrm>
            <a:off x="6611176" y="2371297"/>
            <a:ext cx="5240422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Культура энергии, сотрудничества, </a:t>
            </a:r>
          </a:p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развития и успеха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3338CE3-5DEF-4E22-ABC4-0FD16CB5E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836" y="3004165"/>
            <a:ext cx="1581151" cy="120491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449585-539B-4F20-A27B-AC80D95E8F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3588" y="2983941"/>
            <a:ext cx="1638378" cy="122513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FA437AA-A2F0-4ADE-941C-A4244827ED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1899" y="4315200"/>
            <a:ext cx="1581151" cy="121409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FD26E0A-73AE-4D04-8056-229D6105DC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200" y="4337124"/>
            <a:ext cx="1569273" cy="119339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302EC46-1F2C-410D-9603-57C1DDA1C1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6025" y="4338350"/>
            <a:ext cx="1569273" cy="1196746"/>
          </a:xfrm>
          <a:prstGeom prst="rect">
            <a:avLst/>
          </a:prstGeom>
        </p:spPr>
      </p:pic>
      <p:sp>
        <p:nvSpPr>
          <p:cNvPr id="2" name="Стрелка: пятиугольник 1">
            <a:extLst>
              <a:ext uri="{FF2B5EF4-FFF2-40B4-BE49-F238E27FC236}">
                <a16:creationId xmlns:a16="http://schemas.microsoft.com/office/drawing/2014/main" id="{E877D8FF-20C3-4749-92FF-ACACC856B7B5}"/>
              </a:ext>
            </a:extLst>
          </p:cNvPr>
          <p:cNvSpPr/>
          <p:nvPr/>
        </p:nvSpPr>
        <p:spPr>
          <a:xfrm>
            <a:off x="5405120" y="1322904"/>
            <a:ext cx="6410338" cy="898409"/>
          </a:xfrm>
          <a:prstGeom prst="homePlate">
            <a:avLst/>
          </a:prstGeom>
          <a:solidFill>
            <a:schemeClr val="accent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l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E96239-842F-4A33-B78C-72A50FBDC97A}"/>
              </a:ext>
            </a:extLst>
          </p:cNvPr>
          <p:cNvSpPr txBox="1"/>
          <p:nvPr/>
        </p:nvSpPr>
        <p:spPr>
          <a:xfrm>
            <a:off x="5503736" y="1402778"/>
            <a:ext cx="6143739" cy="738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b="1" dirty="0">
                <a:solidFill>
                  <a:schemeClr val="bg1"/>
                </a:solidFill>
                <a:latin typeface="Montserrat Regular"/>
              </a:rPr>
              <a:t>Стать компанией, которая задает передовые стандарты эффективности и безопасности, объединяя лучших профессионалов своего дела и создавая стабильное будущее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5"/>
          <p:cNvSpPr txBox="1">
            <a:spLocks noGrp="1"/>
          </p:cNvSpPr>
          <p:nvPr>
            <p:ph type="title"/>
          </p:nvPr>
        </p:nvSpPr>
        <p:spPr>
          <a:xfrm>
            <a:off x="544525" y="286265"/>
            <a:ext cx="9010023" cy="492438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номинации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E8D22E-76E0-4EBB-AC69-432A0201BF9A}"/>
              </a:ext>
            </a:extLst>
          </p:cNvPr>
          <p:cNvSpPr txBox="1"/>
          <p:nvPr/>
        </p:nvSpPr>
        <p:spPr>
          <a:xfrm>
            <a:off x="1454985" y="1296595"/>
            <a:ext cx="10192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rgbClr val="002060"/>
                </a:solidFill>
                <a:latin typeface="Montserrat" panose="00000500000000000000" pitchFamily="2" charset="0"/>
              </a:rPr>
              <a:t>ЛУЧШИЙ В БЕЗОПАСНОСТИ</a:t>
            </a:r>
          </a:p>
          <a:p>
            <a:r>
              <a:rPr lang="ru-RU" sz="1200" dirty="0">
                <a:solidFill>
                  <a:schemeClr val="accent1"/>
                </a:solidFill>
                <a:latin typeface="Montserrat" pitchFamily="2" charset="77"/>
              </a:rPr>
              <a:t>Ценность «Безопасность труда»</a:t>
            </a:r>
            <a:endParaRPr lang="en-US" sz="1200" dirty="0">
              <a:solidFill>
                <a:schemeClr val="accent1"/>
              </a:solidFill>
              <a:latin typeface="Montserrat" pitchFamily="2" charset="77"/>
            </a:endParaRPr>
          </a:p>
          <a:p>
            <a:r>
              <a:rPr lang="ru-RU" sz="1100" dirty="0">
                <a:latin typeface="Montserrat Light" pitchFamily="2" charset="77"/>
              </a:rPr>
              <a:t>В номинации отмечаются сотрудники, которые демонстрируют лидерство в вопросах безопасности; соблюдают правила безопасности в любых условиях, даже вне работы, требуют того же от коллег и партнеров; останавливают любую небезопасную ситуацию.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C1FF0C-0D5A-4988-96FF-15C7247F90ED}"/>
              </a:ext>
            </a:extLst>
          </p:cNvPr>
          <p:cNvSpPr txBox="1"/>
          <p:nvPr/>
        </p:nvSpPr>
        <p:spPr>
          <a:xfrm>
            <a:off x="1441729" y="2432750"/>
            <a:ext cx="10192490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rgbClr val="002060"/>
                </a:solidFill>
                <a:latin typeface="Montserrat" panose="00000500000000000000" pitchFamily="2" charset="0"/>
              </a:rPr>
              <a:t>ЛУЧШИЙ В РАЗВИТИИ</a:t>
            </a:r>
          </a:p>
          <a:p>
            <a:r>
              <a:rPr lang="ru-RU" sz="1200" dirty="0">
                <a:solidFill>
                  <a:schemeClr val="accent1"/>
                </a:solidFill>
                <a:latin typeface="Montserrat" pitchFamily="2" charset="77"/>
              </a:rPr>
              <a:t>Ценность «Открытость новому»</a:t>
            </a:r>
            <a:endParaRPr lang="ru-RU" sz="1200" dirty="0">
              <a:solidFill>
                <a:schemeClr val="bg1">
                  <a:lumMod val="50000"/>
                </a:schemeClr>
              </a:solidFill>
              <a:latin typeface="Montserrat" pitchFamily="2" charset="77"/>
            </a:endParaRPr>
          </a:p>
          <a:p>
            <a:r>
              <a:rPr lang="ru-RU" sz="1100" dirty="0">
                <a:latin typeface="Montserrat Light" pitchFamily="2" charset="77"/>
              </a:rPr>
              <a:t>В номинации отмечаются сотрудники, которые относятся к изменениям как к возможности для роста; совершенствуют свои знания и навыки; являются источником знаний и ответов в своей профессиональной области, высоко профессиональные; помогают расти и развиваться коллегам; являются наставниками/ менторами/ активными спикерами.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5F7100-5B85-48D7-87C9-580DD20412C5}"/>
              </a:ext>
            </a:extLst>
          </p:cNvPr>
          <p:cNvSpPr txBox="1"/>
          <p:nvPr/>
        </p:nvSpPr>
        <p:spPr>
          <a:xfrm>
            <a:off x="1428366" y="3666696"/>
            <a:ext cx="102191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rgbClr val="002060"/>
                </a:solidFill>
                <a:latin typeface="Montserrat" panose="00000500000000000000" pitchFamily="2" charset="0"/>
              </a:rPr>
              <a:t>ЛУЧШИЙ В СОТРУДНИЧЕСТВЕ</a:t>
            </a:r>
            <a:br>
              <a:rPr lang="ru-RU" sz="1200" b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</a:br>
            <a:r>
              <a:rPr lang="ru-RU" sz="1200" dirty="0">
                <a:solidFill>
                  <a:schemeClr val="accent1"/>
                </a:solidFill>
                <a:latin typeface="Montserrat" pitchFamily="2" charset="77"/>
              </a:rPr>
              <a:t>Ценность «Уважение и сотрудничество»</a:t>
            </a:r>
          </a:p>
          <a:p>
            <a:r>
              <a:rPr lang="ru-RU" sz="1100" dirty="0">
                <a:latin typeface="Montserrat Light" pitchFamily="2" charset="77"/>
              </a:rPr>
              <a:t>В номинации отмечаются сотрудники, которые строят честные, уважительные и открытые взаимоотношения с коллегами; создают среду, способствующую командной работе и сотрудничеству; приходят на помощь в сложных ситуациях; стремятся к конструктивному диалогу; учитывают точку зрения собеседника, относятся к другим как к равным; выстраивают отличные кросс функциональные взаимоотношения (между подразделениями/функциями) с особым внимаем к коллеге, обратившемуся с просьбой или за помощью.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316C0C-880A-4D2B-B363-EF8DEBB516D4}"/>
              </a:ext>
            </a:extLst>
          </p:cNvPr>
          <p:cNvSpPr txBox="1"/>
          <p:nvPr/>
        </p:nvSpPr>
        <p:spPr>
          <a:xfrm>
            <a:off x="1424992" y="5072288"/>
            <a:ext cx="102191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rgbClr val="002060"/>
                </a:solidFill>
                <a:latin typeface="Montserrat" panose="00000500000000000000" pitchFamily="2" charset="0"/>
              </a:rPr>
              <a:t>ЛУЧШИЙ В ЭФФЕКТИВНОСТИ</a:t>
            </a:r>
          </a:p>
          <a:p>
            <a:r>
              <a:rPr lang="ru-RU" sz="1200" dirty="0">
                <a:solidFill>
                  <a:schemeClr val="accent1"/>
                </a:solidFill>
                <a:latin typeface="Montserrat" pitchFamily="2" charset="77"/>
              </a:rPr>
              <a:t>Ценность «Ориентация на результат»</a:t>
            </a:r>
            <a:endParaRPr lang="ru-RU" sz="1200" dirty="0">
              <a:solidFill>
                <a:schemeClr val="bg1">
                  <a:lumMod val="50000"/>
                </a:schemeClr>
              </a:solidFill>
              <a:latin typeface="Montserrat" pitchFamily="2" charset="77"/>
            </a:endParaRPr>
          </a:p>
          <a:p>
            <a:r>
              <a:rPr lang="ru-RU" sz="1100" dirty="0">
                <a:latin typeface="Montserrat Light" pitchFamily="2" charset="77"/>
              </a:rPr>
              <a:t>В номинации отмечаются сотрудники, которые ставят амбициозные цели и достигают их, улучшая операционные и финансовые показатели; используют нестандартные подходы к решению сложных задач, внедряют лучшие практики и всегда видят потенциал для улучшений в своей работе; не замалчивают проблемы, а находят эффективные способы их решения; с большой ответственностью, бережно и рационально, как к своим собственным, относятся к ресурсам компании и к рабочему времени.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38421147-4566-44E5-8D9B-690B9D38A559}"/>
              </a:ext>
            </a:extLst>
          </p:cNvPr>
          <p:cNvSpPr txBox="1"/>
          <p:nvPr/>
        </p:nvSpPr>
        <p:spPr>
          <a:xfrm>
            <a:off x="544525" y="749485"/>
            <a:ext cx="4687232" cy="825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spcBef>
                <a:spcPts val="1400"/>
              </a:spcBef>
              <a:defRPr sz="1300">
                <a:solidFill>
                  <a:srgbClr val="929DAD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ru-RU" sz="1800" dirty="0">
                <a:solidFill>
                  <a:schemeClr val="accent1"/>
                </a:solidFill>
                <a:sym typeface="Helvetica"/>
              </a:rPr>
              <a:t>Премия проводится в 4 номинациях:</a:t>
            </a:r>
          </a:p>
          <a:p>
            <a:endParaRPr lang="ru-RU" sz="1800" dirty="0">
              <a:solidFill>
                <a:schemeClr val="accent1"/>
              </a:solidFill>
              <a:sym typeface="Helvetica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15A06ED-698D-45FE-B854-164E11827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48" b="89723" l="9940" r="89759">
                        <a14:foregroundMark x1="49096" y1="4348" x2="50000" y2="59289"/>
                        <a14:foregroundMark x1="32229" y1="18577" x2="64759" y2="27668"/>
                        <a14:foregroundMark x1="64759" y1="27668" x2="63855" y2="22530"/>
                        <a14:foregroundMark x1="68072" y1="22530" x2="52711" y2="57312"/>
                        <a14:foregroundMark x1="52711" y1="57312" x2="33133" y2="35968"/>
                        <a14:foregroundMark x1="32229" y1="35178" x2="62349" y2="51383"/>
                        <a14:foregroundMark x1="62349" y1="51383" x2="66566" y2="40711"/>
                        <a14:foregroundMark x1="34639" y1="35968" x2="42470" y2="58103"/>
                        <a14:foregroundMark x1="30723" y1="27273" x2="39759" y2="58103"/>
                        <a14:foregroundMark x1="29518" y1="29249" x2="50602" y2="60870"/>
                        <a14:foregroundMark x1="50602" y1="60870" x2="54217" y2="58103"/>
                        <a14:foregroundMark x1="36747" y1="28458" x2="35241" y2="37945"/>
                        <a14:foregroundMark x1="26506" y1="41897" x2="40964" y2="5336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8074" y="1363013"/>
            <a:ext cx="1581151" cy="1204913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4AC2A94-AD37-4E5B-85B9-2A5C2B6B5D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68" b="89683" l="9496" r="89911">
                        <a14:foregroundMark x1="37389" y1="16270" x2="66469" y2="58730"/>
                        <a14:foregroundMark x1="66469" y1="58730" x2="66469" y2="58730"/>
                        <a14:foregroundMark x1="56677" y1="9524" x2="37389" y2="38095"/>
                        <a14:foregroundMark x1="34718" y1="21825" x2="56677" y2="56746"/>
                        <a14:foregroundMark x1="60237" y1="18254" x2="72380" y2="46399"/>
                        <a14:foregroundMark x1="34718" y1="36111" x2="50148" y2="51984"/>
                        <a14:foregroundMark x1="47478" y1="3968" x2="47478" y2="3968"/>
                        <a14:backgroundMark x1="86053" y1="40079" x2="81009" y2="61508"/>
                        <a14:backgroundMark x1="75371" y1="48413" x2="99407" y2="50397"/>
                        <a14:backgroundMark x1="73294" y1="50397" x2="73294" y2="50397"/>
                        <a14:backgroundMark x1="73887" y1="48413" x2="73887" y2="51190"/>
                        <a14:backgroundMark x1="79525" y1="47619" x2="75371" y2="5515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460" y="3673255"/>
            <a:ext cx="1638378" cy="1225137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A38011C-42E6-47F5-BE9E-C0E1B75F62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118" b="89764" l="9581" r="89521">
                        <a14:foregroundMark x1="46407" y1="7087" x2="63174" y2="50000"/>
                        <a14:foregroundMark x1="63174" y1="50000" x2="63473" y2="53543"/>
                        <a14:foregroundMark x1="56886" y1="11024" x2="63772" y2="51969"/>
                        <a14:foregroundMark x1="63772" y1="51969" x2="63473" y2="54724"/>
                        <a14:foregroundMark x1="47904" y1="9055" x2="54491" y2="65354"/>
                        <a14:foregroundMark x1="54491" y1="65354" x2="54491" y2="65354"/>
                        <a14:foregroundMark x1="48503" y1="12992" x2="30240" y2="27559"/>
                        <a14:foregroundMark x1="44910" y1="7874" x2="67066" y2="41732"/>
                        <a14:foregroundMark x1="67066" y1="41732" x2="58982" y2="58661"/>
                        <a14:foregroundMark x1="66467" y1="15748" x2="65569" y2="60236"/>
                        <a14:foregroundMark x1="29341" y1="29528" x2="60479" y2="13780"/>
                        <a14:foregroundMark x1="60479" y1="13780" x2="72156" y2="40157"/>
                        <a14:foregroundMark x1="59581" y1="9843" x2="27545" y2="23228"/>
                        <a14:foregroundMark x1="27545" y1="23228" x2="27844" y2="30315"/>
                        <a14:foregroundMark x1="47904" y1="5118" x2="59581" y2="787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952" y="2489168"/>
            <a:ext cx="1569273" cy="119339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45248DD-63ED-4932-812E-C9F5ACE6AA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039" b="89535" l="9524" r="89881">
                        <a14:foregroundMark x1="29762" y1="33721" x2="56250" y2="12403"/>
                        <a14:foregroundMark x1="56250" y1="12403" x2="67857" y2="30620"/>
                        <a14:foregroundMark x1="27381" y1="24806" x2="51786" y2="7752"/>
                        <a14:foregroundMark x1="64881" y1="36434" x2="35417" y2="48837"/>
                        <a14:foregroundMark x1="35417" y1="48837" x2="34226" y2="44961"/>
                        <a14:foregroundMark x1="66964" y1="30620" x2="54464" y2="63178"/>
                        <a14:foregroundMark x1="47917" y1="5039" x2="56845" y2="6977"/>
                        <a14:foregroundMark x1="54464" y1="34496" x2="50298" y2="4767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952" y="5231973"/>
            <a:ext cx="1581151" cy="121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3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22B2C-9C05-4A33-AE33-6F3CEFA1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этапы и сроки Премии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CA53CBF-5F90-41EF-BEAA-BEFEF9D7AF54}"/>
              </a:ext>
            </a:extLst>
          </p:cNvPr>
          <p:cNvSpPr/>
          <p:nvPr/>
        </p:nvSpPr>
        <p:spPr>
          <a:xfrm>
            <a:off x="1250852" y="2394916"/>
            <a:ext cx="2108597" cy="1034084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40000"/>
                <a:lumOff val="6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latin typeface="Montserrat Light" pitchFamily="2" charset="77"/>
              </a:rPr>
              <a:t>Подача заявок для участия в премии </a:t>
            </a:r>
          </a:p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tx1"/>
                </a:solidFill>
                <a:latin typeface="Montserrat Light" pitchFamily="2" charset="77"/>
              </a:rPr>
              <a:t>(номинирование)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76D2B7E-341C-4098-BE1B-9B96406D9614}"/>
              </a:ext>
            </a:extLst>
          </p:cNvPr>
          <p:cNvSpPr/>
          <p:nvPr/>
        </p:nvSpPr>
        <p:spPr>
          <a:xfrm>
            <a:off x="3651822" y="2407050"/>
            <a:ext cx="2108597" cy="1034084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latin typeface="Montserrat Light" pitchFamily="2" charset="77"/>
              </a:rPr>
              <a:t>Формирование </a:t>
            </a:r>
          </a:p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latin typeface="Montserrat Light" pitchFamily="2" charset="77"/>
              </a:rPr>
              <a:t>шорт-листа премии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294BAC0-638F-47D2-A49A-3E58DFD9B18A}"/>
              </a:ext>
            </a:extLst>
          </p:cNvPr>
          <p:cNvSpPr/>
          <p:nvPr/>
        </p:nvSpPr>
        <p:spPr>
          <a:xfrm>
            <a:off x="6052792" y="2384216"/>
            <a:ext cx="2108597" cy="1034084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400" dirty="0">
                <a:latin typeface="Montserrat Light" pitchFamily="2" charset="77"/>
              </a:rPr>
              <a:t>Определение победителей путем голосования сотрудников БЕ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457C408-3851-4F9E-AB52-B15A1ED6A16A}"/>
              </a:ext>
            </a:extLst>
          </p:cNvPr>
          <p:cNvSpPr/>
          <p:nvPr/>
        </p:nvSpPr>
        <p:spPr>
          <a:xfrm>
            <a:off x="1178580" y="1899107"/>
            <a:ext cx="47643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8928FB8-0E2C-4511-8E27-CA7DFD32B62E}"/>
              </a:ext>
            </a:extLst>
          </p:cNvPr>
          <p:cNvSpPr/>
          <p:nvPr/>
        </p:nvSpPr>
        <p:spPr>
          <a:xfrm>
            <a:off x="3721533" y="1899107"/>
            <a:ext cx="47643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2</a:t>
            </a:r>
            <a:endParaRPr lang="ru-RU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3EDAB22-D5C7-47D5-AB5E-B0C35529F5B8}"/>
              </a:ext>
            </a:extLst>
          </p:cNvPr>
          <p:cNvSpPr/>
          <p:nvPr/>
        </p:nvSpPr>
        <p:spPr>
          <a:xfrm>
            <a:off x="6122503" y="1878738"/>
            <a:ext cx="47643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3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1A116111-002D-4E6C-A4D2-FCB97DE001EF}"/>
              </a:ext>
            </a:extLst>
          </p:cNvPr>
          <p:cNvSpPr/>
          <p:nvPr/>
        </p:nvSpPr>
        <p:spPr>
          <a:xfrm>
            <a:off x="8462336" y="2384216"/>
            <a:ext cx="2108597" cy="1034084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400" dirty="0">
                <a:latin typeface="Montserrat Light" pitchFamily="2" charset="77"/>
              </a:rPr>
              <a:t>Объявление и награждение победителей </a:t>
            </a:r>
          </a:p>
          <a:p>
            <a:pPr algn="ctr"/>
            <a:r>
              <a:rPr lang="ru-RU" sz="1400" dirty="0">
                <a:latin typeface="Montserrat Light" pitchFamily="2" charset="77"/>
              </a:rPr>
              <a:t>премии на БЕ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CAC5501-5A94-4989-B4A0-1FA15C1D1216}"/>
              </a:ext>
            </a:extLst>
          </p:cNvPr>
          <p:cNvSpPr/>
          <p:nvPr/>
        </p:nvSpPr>
        <p:spPr>
          <a:xfrm>
            <a:off x="8532047" y="1878738"/>
            <a:ext cx="47643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54CF5F-30E8-4B80-BBA7-847A62DEC9D2}"/>
              </a:ext>
            </a:extLst>
          </p:cNvPr>
          <p:cNvSpPr txBox="1"/>
          <p:nvPr/>
        </p:nvSpPr>
        <p:spPr>
          <a:xfrm>
            <a:off x="1250852" y="3418300"/>
            <a:ext cx="2066696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b="1" dirty="0">
                <a:solidFill>
                  <a:srgbClr val="00B050"/>
                </a:solidFill>
                <a:latin typeface="Montserrat Light" pitchFamily="2" charset="-52"/>
              </a:rPr>
              <a:t>До </a:t>
            </a:r>
            <a:r>
              <a:rPr lang="ru-RU" sz="1400" b="1" dirty="0">
                <a:solidFill>
                  <a:srgbClr val="00B050"/>
                </a:solidFill>
                <a:latin typeface="Montserrat Light" pitchFamily="2" charset="-52"/>
                <a:sym typeface="Helvetica"/>
              </a:rPr>
              <a:t>6</a:t>
            </a:r>
            <a:r>
              <a:rPr kumimoji="0" lang="ru-RU" sz="1400" b="1" u="none" strike="noStrike" cap="none" spc="0" normalizeH="0" baseline="0" dirty="0">
                <a:ln>
                  <a:noFill/>
                </a:ln>
                <a:solidFill>
                  <a:srgbClr val="00B050"/>
                </a:solidFill>
                <a:uFillTx/>
                <a:latin typeface="Montserrat Light" pitchFamily="2" charset="-52"/>
                <a:sym typeface="Helvetica"/>
              </a:rPr>
              <a:t> июля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EAA48-C5C1-46FC-9470-18A98B67020D}"/>
              </a:ext>
            </a:extLst>
          </p:cNvPr>
          <p:cNvSpPr txBox="1"/>
          <p:nvPr/>
        </p:nvSpPr>
        <p:spPr>
          <a:xfrm>
            <a:off x="3774549" y="3414206"/>
            <a:ext cx="1804521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1400">
                <a:latin typeface="Montserrat Light" pitchFamily="2" charset="-52"/>
              </a:defRPr>
            </a:lvl1pPr>
          </a:lstStyle>
          <a:p>
            <a:r>
              <a:rPr lang="ru-RU" b="1" dirty="0">
                <a:solidFill>
                  <a:srgbClr val="00B050"/>
                </a:solidFill>
              </a:rPr>
              <a:t>7 - 20 июля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210A20-443E-4B29-A40A-377BCA47A060}"/>
              </a:ext>
            </a:extLst>
          </p:cNvPr>
          <p:cNvSpPr txBox="1"/>
          <p:nvPr/>
        </p:nvSpPr>
        <p:spPr>
          <a:xfrm>
            <a:off x="6288502" y="3414206"/>
            <a:ext cx="1804521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ru-RU" sz="1400" b="1" dirty="0">
                <a:solidFill>
                  <a:srgbClr val="00B050"/>
                </a:solidFill>
                <a:latin typeface="Montserrat Light" pitchFamily="2" charset="-52"/>
              </a:rPr>
              <a:t>21 июля – 3 августа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88862-70A2-42E3-A379-69848DDB0367}"/>
              </a:ext>
            </a:extLst>
          </p:cNvPr>
          <p:cNvSpPr txBox="1"/>
          <p:nvPr/>
        </p:nvSpPr>
        <p:spPr>
          <a:xfrm>
            <a:off x="8719698" y="3418300"/>
            <a:ext cx="1804521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ru-RU" sz="1400" b="1" dirty="0">
                <a:solidFill>
                  <a:srgbClr val="00B050"/>
                </a:solidFill>
                <a:latin typeface="Montserrat Light" pitchFamily="2" charset="-52"/>
              </a:rPr>
              <a:t>Август</a:t>
            </a:r>
          </a:p>
        </p:txBody>
      </p:sp>
    </p:spTree>
    <p:extLst>
      <p:ext uri="{BB962C8B-B14F-4D97-AF65-F5344CB8AC3E}">
        <p14:creationId xmlns:p14="http://schemas.microsoft.com/office/powerpoint/2010/main" val="2758215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9E79A-93B9-40E8-B1E8-A5648EFF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кандидату на премию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D53B4-308A-4FFD-8B78-8893108A40BF}"/>
              </a:ext>
            </a:extLst>
          </p:cNvPr>
          <p:cNvSpPr txBox="1"/>
          <p:nvPr/>
        </p:nvSpPr>
        <p:spPr>
          <a:xfrm>
            <a:off x="544526" y="1172945"/>
            <a:ext cx="11102948" cy="718094"/>
          </a:xfrm>
          <a:prstGeom prst="roundRect">
            <a:avLst/>
          </a:prstGeom>
          <a:gradFill flip="none" rotWithShape="1">
            <a:gsLst>
              <a:gs pos="89000">
                <a:srgbClr val="96A5C1">
                  <a:alpha val="24000"/>
                </a:srgbClr>
              </a:gs>
              <a:gs pos="0">
                <a:schemeClr val="accent3">
                  <a:lumMod val="75000"/>
                  <a:alpha val="38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100">
                <a:solidFill>
                  <a:schemeClr val="accent1"/>
                </a:solidFill>
                <a:latin typeface="Montserrat Light" pitchFamily="2" charset="77"/>
              </a:defRPr>
            </a:lvl1pPr>
          </a:lstStyle>
          <a:p>
            <a:r>
              <a:rPr lang="ru-RU" sz="1800" b="1" dirty="0">
                <a:sym typeface="Montserrat Regular"/>
              </a:rPr>
              <a:t>К участию в премии и последующему голосованию могут быть представлены сотрудники, подходящие по следующим критериям (все одновременно):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5D908-405A-44D6-82E6-F159FB84D90A}"/>
              </a:ext>
            </a:extLst>
          </p:cNvPr>
          <p:cNvSpPr txBox="1"/>
          <p:nvPr/>
        </p:nvSpPr>
        <p:spPr>
          <a:xfrm>
            <a:off x="544526" y="2006606"/>
            <a:ext cx="10972800" cy="33746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1"/>
                </a:solidFill>
                <a:latin typeface="Montserrat Regular"/>
                <a:sym typeface="Montserrat Regular"/>
              </a:rPr>
              <a:t>Стаж работы в Группе компании "Хайлэнд Голд" более 1 года;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1"/>
                </a:solidFill>
                <a:latin typeface="Montserrat Regular"/>
                <a:sym typeface="Montserrat Regular"/>
              </a:rPr>
              <a:t>Должность ниже заместителя генерального директора (для управляющей компании) и управляющего директора (для предприятий);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1"/>
                </a:solidFill>
                <a:latin typeface="Montserrat Regular"/>
                <a:sym typeface="Montserrat Regular"/>
              </a:rPr>
              <a:t>Отсутствие дисциплинарных взысканий, нарушений </a:t>
            </a:r>
            <a:r>
              <a:rPr lang="ru-RU" sz="1600" dirty="0" err="1">
                <a:solidFill>
                  <a:schemeClr val="accent1"/>
                </a:solidFill>
                <a:latin typeface="Montserrat Regular"/>
                <a:sym typeface="Montserrat Regular"/>
              </a:rPr>
              <a:t>ОТиПБ</a:t>
            </a:r>
            <a:r>
              <a:rPr lang="ru-RU" sz="1600" dirty="0">
                <a:solidFill>
                  <a:schemeClr val="accent1"/>
                </a:solidFill>
                <a:latin typeface="Montserrat Regular"/>
                <a:sym typeface="Montserrat Regular"/>
              </a:rPr>
              <a:t> (в течение последнего года работы);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1"/>
                </a:solidFill>
                <a:latin typeface="Montserrat Regular"/>
                <a:sym typeface="Montserrat Regular"/>
              </a:rPr>
              <a:t>Приверженность ценностям компании и достойный пример для окружающих;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1"/>
                </a:solidFill>
                <a:latin typeface="Montserrat Regular"/>
                <a:sym typeface="Montserrat Regular"/>
              </a:rPr>
              <a:t>Положительный опыт в наставничестве;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1"/>
                </a:solidFill>
                <a:latin typeface="Montserrat Regular"/>
                <a:sym typeface="Montserrat Regular"/>
              </a:rPr>
              <a:t>Высокие результаты в работе;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1"/>
                </a:solidFill>
                <a:latin typeface="Montserrat Regular"/>
                <a:sym typeface="Montserrat Regular"/>
              </a:rPr>
              <a:t>Ранее не присваивалась награда «Сотрудник года» Хайлэнд Голд (награда может быть присвоена только 1 раз).</a:t>
            </a:r>
          </a:p>
        </p:txBody>
      </p:sp>
    </p:spTree>
    <p:extLst>
      <p:ext uri="{BB962C8B-B14F-4D97-AF65-F5344CB8AC3E}">
        <p14:creationId xmlns:p14="http://schemas.microsoft.com/office/powerpoint/2010/main" val="2325959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22B2C-9C05-4A33-AE33-6F3CEFA1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ПОДАЧА ЗАЯВОК НА УЧАСТИЕ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CA53CBF-5F90-41EF-BEAA-BEFEF9D7AF54}"/>
              </a:ext>
            </a:extLst>
          </p:cNvPr>
          <p:cNvSpPr/>
          <p:nvPr/>
        </p:nvSpPr>
        <p:spPr>
          <a:xfrm>
            <a:off x="647553" y="1082611"/>
            <a:ext cx="2265915" cy="61377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200" b="1" dirty="0">
                <a:solidFill>
                  <a:schemeClr val="accent1"/>
                </a:solidFill>
                <a:latin typeface="Montserrat Regular"/>
              </a:rPr>
              <a:t>Подача заявок на </a:t>
            </a:r>
          </a:p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200" b="1" dirty="0">
                <a:solidFill>
                  <a:schemeClr val="accent1"/>
                </a:solidFill>
                <a:latin typeface="Montserrat Regular"/>
              </a:rPr>
              <a:t>участие в премии </a:t>
            </a:r>
          </a:p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200" b="1" dirty="0">
                <a:solidFill>
                  <a:schemeClr val="accent1"/>
                </a:solidFill>
                <a:latin typeface="Montserrat Regular"/>
              </a:rPr>
              <a:t>(номинирование)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76D2B7E-341C-4098-BE1B-9B96406D9614}"/>
              </a:ext>
            </a:extLst>
          </p:cNvPr>
          <p:cNvSpPr/>
          <p:nvPr/>
        </p:nvSpPr>
        <p:spPr>
          <a:xfrm>
            <a:off x="3048523" y="1116261"/>
            <a:ext cx="2061883" cy="55476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050" dirty="0">
                <a:latin typeface="Montserrat Light" pitchFamily="2" charset="77"/>
              </a:rPr>
              <a:t>Формирование </a:t>
            </a:r>
          </a:p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050" dirty="0">
                <a:latin typeface="Montserrat Light" pitchFamily="2" charset="77"/>
              </a:rPr>
              <a:t>шорт-листа премии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294BAC0-638F-47D2-A49A-3E58DFD9B18A}"/>
              </a:ext>
            </a:extLst>
          </p:cNvPr>
          <p:cNvSpPr/>
          <p:nvPr/>
        </p:nvSpPr>
        <p:spPr>
          <a:xfrm>
            <a:off x="5449493" y="1093427"/>
            <a:ext cx="2061883" cy="55476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050" dirty="0">
                <a:latin typeface="Montserrat Light" pitchFamily="2" charset="77"/>
              </a:rPr>
              <a:t>Определение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победителей путем голосования сотрудников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457C408-3851-4F9E-AB52-B15A1ED6A16A}"/>
              </a:ext>
            </a:extLst>
          </p:cNvPr>
          <p:cNvSpPr/>
          <p:nvPr/>
        </p:nvSpPr>
        <p:spPr>
          <a:xfrm>
            <a:off x="571480" y="793095"/>
            <a:ext cx="47643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8928FB8-0E2C-4511-8E27-CA7DFD32B62E}"/>
              </a:ext>
            </a:extLst>
          </p:cNvPr>
          <p:cNvSpPr/>
          <p:nvPr/>
        </p:nvSpPr>
        <p:spPr>
          <a:xfrm>
            <a:off x="3002428" y="826730"/>
            <a:ext cx="43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3EDAB22-D5C7-47D5-AB5E-B0C35529F5B8}"/>
              </a:ext>
            </a:extLst>
          </p:cNvPr>
          <p:cNvSpPr/>
          <p:nvPr/>
        </p:nvSpPr>
        <p:spPr>
          <a:xfrm>
            <a:off x="5403398" y="807846"/>
            <a:ext cx="43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3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1A116111-002D-4E6C-A4D2-FCB97DE001EF}"/>
              </a:ext>
            </a:extLst>
          </p:cNvPr>
          <p:cNvSpPr/>
          <p:nvPr/>
        </p:nvSpPr>
        <p:spPr>
          <a:xfrm>
            <a:off x="7859037" y="1093427"/>
            <a:ext cx="2061883" cy="55476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050" dirty="0">
                <a:latin typeface="Montserrat Light" pitchFamily="2" charset="77"/>
              </a:rPr>
              <a:t>Объявление и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награждение победителей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Премии на БЕ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CAC5501-5A94-4989-B4A0-1FA15C1D1216}"/>
              </a:ext>
            </a:extLst>
          </p:cNvPr>
          <p:cNvSpPr/>
          <p:nvPr/>
        </p:nvSpPr>
        <p:spPr>
          <a:xfrm>
            <a:off x="7810143" y="801368"/>
            <a:ext cx="43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54CF5F-30E8-4B80-BBA7-847A62DEC9D2}"/>
              </a:ext>
            </a:extLst>
          </p:cNvPr>
          <p:cNvSpPr txBox="1"/>
          <p:nvPr/>
        </p:nvSpPr>
        <p:spPr>
          <a:xfrm>
            <a:off x="743246" y="1671484"/>
            <a:ext cx="2066696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100" b="1" dirty="0">
                <a:solidFill>
                  <a:srgbClr val="00B050"/>
                </a:solidFill>
                <a:latin typeface="Montserrat Light" pitchFamily="2" charset="-52"/>
              </a:rPr>
              <a:t>До 6 </a:t>
            </a:r>
            <a:r>
              <a:rPr kumimoji="0" lang="ru-RU" sz="1100" b="1" u="none" strike="noStrike" cap="none" spc="0" normalizeH="0" baseline="0" dirty="0">
                <a:ln>
                  <a:noFill/>
                </a:ln>
                <a:solidFill>
                  <a:srgbClr val="00B050"/>
                </a:solidFill>
                <a:uFillTx/>
                <a:latin typeface="Montserrat Light" pitchFamily="2" charset="-52"/>
                <a:sym typeface="Helvetica"/>
              </a:rPr>
              <a:t>июля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EAA48-C5C1-46FC-9470-18A98B67020D}"/>
              </a:ext>
            </a:extLst>
          </p:cNvPr>
          <p:cNvSpPr txBox="1"/>
          <p:nvPr/>
        </p:nvSpPr>
        <p:spPr>
          <a:xfrm>
            <a:off x="3256062" y="1645875"/>
            <a:ext cx="180452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1400">
                <a:latin typeface="Montserrat Light" pitchFamily="2" charset="-52"/>
              </a:defRPr>
            </a:lvl1pPr>
          </a:lstStyle>
          <a:p>
            <a:r>
              <a:rPr lang="ru-RU" sz="1100" b="1" dirty="0">
                <a:solidFill>
                  <a:srgbClr val="00B050"/>
                </a:solidFill>
              </a:rPr>
              <a:t>7 - 20 июля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210A20-443E-4B29-A40A-377BCA47A060}"/>
              </a:ext>
            </a:extLst>
          </p:cNvPr>
          <p:cNvSpPr txBox="1"/>
          <p:nvPr/>
        </p:nvSpPr>
        <p:spPr>
          <a:xfrm>
            <a:off x="5663687" y="1645875"/>
            <a:ext cx="180452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ru-RU" sz="1100" b="1" dirty="0">
                <a:solidFill>
                  <a:srgbClr val="00B050"/>
                </a:solidFill>
                <a:latin typeface="Montserrat Light" pitchFamily="2" charset="-52"/>
              </a:rPr>
              <a:t>21 июля – 3 августа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88862-70A2-42E3-A379-69848DDB0367}"/>
              </a:ext>
            </a:extLst>
          </p:cNvPr>
          <p:cNvSpPr txBox="1"/>
          <p:nvPr/>
        </p:nvSpPr>
        <p:spPr>
          <a:xfrm>
            <a:off x="8094883" y="1649969"/>
            <a:ext cx="180452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ru-RU" sz="1100" b="1" dirty="0">
                <a:solidFill>
                  <a:srgbClr val="00B050"/>
                </a:solidFill>
                <a:latin typeface="Montserrat Light" pitchFamily="2" charset="-52"/>
              </a:rPr>
              <a:t>Август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A1B12B-B6D5-40C8-81F2-314490B9229B}"/>
              </a:ext>
            </a:extLst>
          </p:cNvPr>
          <p:cNvSpPr txBox="1"/>
          <p:nvPr/>
        </p:nvSpPr>
        <p:spPr>
          <a:xfrm>
            <a:off x="909966" y="2523526"/>
            <a:ext cx="10372067" cy="13849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342900" marR="0" indent="-342900" defTabSz="914377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1400" dirty="0">
                <a:solidFill>
                  <a:schemeClr val="accent1"/>
                </a:solidFill>
                <a:latin typeface="Montserrat Regular"/>
                <a:sym typeface="Montserrat Regular"/>
              </a:rPr>
              <a:t>На корпоративном портале в разделе о премии</a:t>
            </a:r>
          </a:p>
          <a:p>
            <a:pPr marL="342900" marR="0" indent="-342900" defTabSz="914377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1400" dirty="0">
                <a:solidFill>
                  <a:schemeClr val="accent1"/>
                </a:solidFill>
                <a:latin typeface="Montserrat Regular"/>
                <a:sym typeface="Montserrat Regular"/>
              </a:rPr>
              <a:t>Через </a:t>
            </a:r>
            <a:r>
              <a:rPr lang="en-US" sz="1400" dirty="0">
                <a:solidFill>
                  <a:schemeClr val="accent1"/>
                </a:solidFill>
                <a:latin typeface="Montserrat Regular"/>
                <a:sym typeface="Montserrat Regular"/>
              </a:rPr>
              <a:t>QR-</a:t>
            </a:r>
            <a:r>
              <a:rPr lang="ru-RU" sz="1400" dirty="0">
                <a:solidFill>
                  <a:schemeClr val="accent1"/>
                </a:solidFill>
                <a:latin typeface="Montserrat Regular"/>
                <a:sym typeface="Montserrat Regular"/>
              </a:rPr>
              <a:t>код на плакате о премии</a:t>
            </a:r>
          </a:p>
          <a:p>
            <a:pPr marL="342900" marR="0" indent="-342900" defTabSz="914377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1400" dirty="0">
                <a:solidFill>
                  <a:schemeClr val="accent1"/>
                </a:solidFill>
                <a:latin typeface="Montserrat Regular"/>
                <a:sym typeface="Montserrat Regular"/>
              </a:rPr>
              <a:t>По ссылке из </a:t>
            </a:r>
            <a:r>
              <a:rPr lang="en-US" sz="1400" dirty="0">
                <a:solidFill>
                  <a:schemeClr val="accent1"/>
                </a:solidFill>
                <a:latin typeface="Montserrat Regular"/>
                <a:sym typeface="Montserrat Regular"/>
              </a:rPr>
              <a:t>email-</a:t>
            </a:r>
            <a:r>
              <a:rPr lang="ru-RU" sz="1400" dirty="0">
                <a:solidFill>
                  <a:schemeClr val="accent1"/>
                </a:solidFill>
                <a:latin typeface="Montserrat Regular"/>
                <a:sym typeface="Montserrat Regular"/>
              </a:rPr>
              <a:t>рассылки о премии</a:t>
            </a:r>
          </a:p>
          <a:p>
            <a:pPr marL="342900" marR="0" indent="-342900" defTabSz="914377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sz="1400" dirty="0">
                <a:solidFill>
                  <a:schemeClr val="accent1"/>
                </a:solidFill>
                <a:latin typeface="Montserrat Regular"/>
                <a:sym typeface="Montserrat Regular"/>
              </a:rPr>
              <a:t>В чат-боте «Капитан Хайлэнд» в разделе о премии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7C42FB-367B-45FD-9C3B-1760AE25209E}"/>
              </a:ext>
            </a:extLst>
          </p:cNvPr>
          <p:cNvSpPr txBox="1"/>
          <p:nvPr/>
        </p:nvSpPr>
        <p:spPr>
          <a:xfrm>
            <a:off x="544524" y="2000306"/>
            <a:ext cx="11102948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accent1"/>
                </a:solidFill>
                <a:latin typeface="Montserrat Regular"/>
                <a:sym typeface="Montserrat Regular"/>
              </a:rPr>
              <a:t>Для участия в премии сотруднику необходимо отправить заявку (заполнить анкету в электронном виде) любым удобным способом:</a:t>
            </a:r>
            <a:endParaRPr lang="ru-RU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2C3749-8701-4F57-B757-36D7788D7A78}"/>
              </a:ext>
            </a:extLst>
          </p:cNvPr>
          <p:cNvSpPr txBox="1"/>
          <p:nvPr/>
        </p:nvSpPr>
        <p:spPr>
          <a:xfrm>
            <a:off x="544524" y="3963488"/>
            <a:ext cx="11102948" cy="25853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hangingPunct="0">
              <a:spcAft>
                <a:spcPts val="1200"/>
              </a:spcAft>
            </a:pP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Ссылка на анкету единая (одна для всех предприятий группы). Сбор анкет будет осуществляться с помощью сервиса </a:t>
            </a:r>
            <a:r>
              <a:rPr lang="en-US" sz="1400" b="1" dirty="0">
                <a:solidFill>
                  <a:schemeClr val="accent1"/>
                </a:solidFill>
                <a:latin typeface="Montserrat Regular"/>
              </a:rPr>
              <a:t>Anketolog.ru</a:t>
            </a: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. </a:t>
            </a:r>
          </a:p>
          <a:p>
            <a:pPr hangingPunct="0">
              <a:spcAft>
                <a:spcPts val="1200"/>
              </a:spcAft>
            </a:pP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Подать заявку можно самостоятельно, либо номинировать могут коллеги / коллектив, высоко оценивающие заслуги кандидата. По количеству нет никаких ограничений.</a:t>
            </a:r>
          </a:p>
          <a:p>
            <a:pPr hangingPunct="0">
              <a:spcAft>
                <a:spcPts val="1200"/>
              </a:spcAft>
            </a:pP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Выгрузку направленных заявок по вашему предприятию вы можете запрашивать у </a:t>
            </a:r>
            <a:r>
              <a:rPr lang="ru-RU" sz="1400" dirty="0" err="1">
                <a:solidFill>
                  <a:schemeClr val="accent1"/>
                </a:solidFill>
                <a:latin typeface="Montserrat Regular"/>
              </a:rPr>
              <a:t>О.Овчинниковой</a:t>
            </a: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. </a:t>
            </a:r>
          </a:p>
          <a:p>
            <a:pPr marR="0" algn="l" defTabSz="914377" rtl="0" fontAlgn="auto" latinLnBrk="0" hangingPunct="0">
              <a:spcBef>
                <a:spcPts val="0"/>
              </a:spcBef>
              <a:spcAft>
                <a:spcPts val="1200"/>
              </a:spcAft>
              <a:buClrTx/>
              <a:buSzTx/>
              <a:tabLst/>
            </a:pP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При малом количестве анкет по предприятию, необходимо предложить руководителям номинировать своих подчиненных.</a:t>
            </a:r>
          </a:p>
          <a:p>
            <a:pPr hangingPunct="0">
              <a:spcAft>
                <a:spcPts val="1200"/>
              </a:spcAft>
            </a:pP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В период подачи заявок рекомендуется начать формировать шорт-лист (подробнее на слайде 8).</a:t>
            </a:r>
          </a:p>
        </p:txBody>
      </p:sp>
    </p:spTree>
    <p:extLst>
      <p:ext uri="{BB962C8B-B14F-4D97-AF65-F5344CB8AC3E}">
        <p14:creationId xmlns:p14="http://schemas.microsoft.com/office/powerpoint/2010/main" val="1710573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D85EB-182C-40C6-84DE-CD7C8CB8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Анкета на участие в ПРЕМИИ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B64A3-75E4-4A8B-B3AA-CFFAF3699516}"/>
              </a:ext>
            </a:extLst>
          </p:cNvPr>
          <p:cNvSpPr txBox="1"/>
          <p:nvPr/>
        </p:nvSpPr>
        <p:spPr>
          <a:xfrm>
            <a:off x="512793" y="990582"/>
            <a:ext cx="6500956" cy="52629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R="0" algn="l" defTabSz="914377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Анкета кандидата содержит следующие поля для заполнения:</a:t>
            </a:r>
          </a:p>
          <a:p>
            <a:pPr marL="342900" marR="0" indent="-342900" algn="l" defTabSz="914377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Фамилия, имя, отчество </a:t>
            </a: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кандидата на премию;</a:t>
            </a:r>
          </a:p>
          <a:p>
            <a:pPr marL="342900" marR="0" indent="-342900" algn="l" defTabSz="914377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Должность, подразделение и предприятие </a:t>
            </a: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кандидата;</a:t>
            </a: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 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ФИО, должность и предприятие заявителя </a:t>
            </a: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(того, кто подает заявку / заполняет анкету);</a:t>
            </a:r>
          </a:p>
          <a:p>
            <a:pPr marL="342900" marR="0" indent="-342900" algn="l" defTabSz="914377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Поле для выбора </a:t>
            </a: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номинаций </a:t>
            </a: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(необходимо выбрать одну из 4х);</a:t>
            </a:r>
          </a:p>
          <a:p>
            <a:pPr marL="342900" marR="0" indent="-342900" algn="l" defTabSz="914377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Поле для текста </a:t>
            </a: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«почему номинант заслуживает награду?» </a:t>
            </a:r>
            <a:r>
              <a:rPr lang="ru-RU" sz="1400" dirty="0">
                <a:solidFill>
                  <a:schemeClr val="accent1"/>
                </a:solidFill>
                <a:latin typeface="Montserrat Regular"/>
              </a:rPr>
              <a:t>Необходимо указать конкретные значимые для компании достижения кандидата; описать ситуации, в которых продемонстрировано поведение, соответствующее ценностям компании; какие качества выделяют кандидата на фоне других.</a:t>
            </a:r>
          </a:p>
          <a:p>
            <a:pPr marL="361950" lvl="1" hangingPunct="0">
              <a:lnSpc>
                <a:spcPct val="150000"/>
              </a:lnSpc>
            </a:pPr>
            <a:r>
              <a:rPr lang="ru-RU" sz="1200" b="1" i="1" dirty="0">
                <a:solidFill>
                  <a:srgbClr val="00B050"/>
                </a:solidFill>
                <a:latin typeface="Montserrat Regular"/>
              </a:rPr>
              <a:t>Фокусируйте внимание сотрудников, что это важный пункт и нужно качественно и обдуманно подходить к заполнению описания на кандидата. </a:t>
            </a:r>
          </a:p>
          <a:p>
            <a:pPr marL="342900" marR="0" indent="-342900" algn="l" defTabSz="914377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endParaRPr lang="ru-RU" sz="1400" dirty="0">
              <a:solidFill>
                <a:schemeClr val="accent1"/>
              </a:solidFill>
              <a:latin typeface="Montserrat Regular"/>
            </a:endParaRPr>
          </a:p>
          <a:p>
            <a:pPr marR="0" algn="l" defTabSz="914377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1400" i="1" dirty="0">
                <a:solidFill>
                  <a:schemeClr val="accent1"/>
                </a:solidFill>
                <a:latin typeface="Montserrat Regular"/>
              </a:rPr>
              <a:t>*Все поля обязательны для заполнения</a:t>
            </a:r>
            <a:endParaRPr lang="en-US" sz="1400" i="1" dirty="0">
              <a:solidFill>
                <a:schemeClr val="accent1"/>
              </a:solidFill>
              <a:latin typeface="Montserrat Regular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621C5B-2D3D-443B-8A7B-C8B60A1CA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878" y="1211646"/>
            <a:ext cx="4047343" cy="482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25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22B2C-9C05-4A33-AE33-6F3CEFA1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ШОРТ-ЛИСТ ПРЕМИИ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B06EBEFE-46B2-4419-8176-179A848F0CB9}"/>
              </a:ext>
            </a:extLst>
          </p:cNvPr>
          <p:cNvSpPr>
            <a:spLocks/>
          </p:cNvSpPr>
          <p:nvPr/>
        </p:nvSpPr>
        <p:spPr>
          <a:xfrm>
            <a:off x="571479" y="3394908"/>
            <a:ext cx="10902765" cy="436021"/>
          </a:xfrm>
          <a:prstGeom prst="round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2. Далее, </a:t>
            </a:r>
            <a:r>
              <a:rPr lang="en-US" sz="1400" b="1" dirty="0">
                <a:solidFill>
                  <a:schemeClr val="accent1"/>
                </a:solidFill>
                <a:latin typeface="Montserrat Regular"/>
              </a:rPr>
              <a:t>HR </a:t>
            </a: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БЕ проводит предварительный отбор заявленных кандидатов на соответствие критериям премии (если кандидат не соответствует хотя бы одному из критериев - кандидат не проходит в следующий этап):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C6C712EB-C5D8-472B-BBF5-E4D3E4771A11}"/>
              </a:ext>
            </a:extLst>
          </p:cNvPr>
          <p:cNvSpPr/>
          <p:nvPr/>
        </p:nvSpPr>
        <p:spPr>
          <a:xfrm>
            <a:off x="647553" y="1082611"/>
            <a:ext cx="2265915" cy="55476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050" dirty="0">
                <a:latin typeface="Montserrat Light" pitchFamily="2" charset="77"/>
              </a:rPr>
              <a:t>Подача заявок для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участия в премии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(номинирование)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6018A183-2B87-432A-971F-24D628899D06}"/>
              </a:ext>
            </a:extLst>
          </p:cNvPr>
          <p:cNvSpPr/>
          <p:nvPr/>
        </p:nvSpPr>
        <p:spPr>
          <a:xfrm>
            <a:off x="3122954" y="1040079"/>
            <a:ext cx="2061883" cy="6463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200" b="1" dirty="0">
                <a:solidFill>
                  <a:schemeClr val="accent1"/>
                </a:solidFill>
                <a:latin typeface="Montserrat Regular"/>
              </a:rPr>
              <a:t>Формирование </a:t>
            </a:r>
          </a:p>
          <a:p>
            <a:pPr algn="ctr"/>
            <a:r>
              <a:rPr lang="ru-RU" sz="1200" b="1" dirty="0">
                <a:solidFill>
                  <a:schemeClr val="accent1"/>
                </a:solidFill>
                <a:latin typeface="Montserrat Regular"/>
              </a:rPr>
              <a:t>шорт-листа премии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A18B19C7-2BAA-46D1-B5EC-52F5525674F8}"/>
              </a:ext>
            </a:extLst>
          </p:cNvPr>
          <p:cNvSpPr/>
          <p:nvPr/>
        </p:nvSpPr>
        <p:spPr>
          <a:xfrm>
            <a:off x="5449493" y="1082611"/>
            <a:ext cx="2061883" cy="55476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050" dirty="0">
                <a:latin typeface="Montserrat Light" pitchFamily="2" charset="77"/>
              </a:rPr>
              <a:t>Определение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победителей путем голосования сотрудников 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F723C28-6671-4745-8257-0F2DA8FC7E3F}"/>
              </a:ext>
            </a:extLst>
          </p:cNvPr>
          <p:cNvSpPr/>
          <p:nvPr/>
        </p:nvSpPr>
        <p:spPr>
          <a:xfrm>
            <a:off x="571480" y="793095"/>
            <a:ext cx="47643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E64BE04-9B39-4BC7-BA90-0EEFD1EBA314}"/>
              </a:ext>
            </a:extLst>
          </p:cNvPr>
          <p:cNvSpPr/>
          <p:nvPr/>
        </p:nvSpPr>
        <p:spPr>
          <a:xfrm>
            <a:off x="3076859" y="784198"/>
            <a:ext cx="43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2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E5052ED-4F49-4826-8F5F-EF5F506902CD}"/>
              </a:ext>
            </a:extLst>
          </p:cNvPr>
          <p:cNvSpPr/>
          <p:nvPr/>
        </p:nvSpPr>
        <p:spPr>
          <a:xfrm>
            <a:off x="5403398" y="807846"/>
            <a:ext cx="43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3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0F680BE-862E-4249-86CE-387B8B04ED95}"/>
              </a:ext>
            </a:extLst>
          </p:cNvPr>
          <p:cNvSpPr/>
          <p:nvPr/>
        </p:nvSpPr>
        <p:spPr>
          <a:xfrm>
            <a:off x="7859037" y="1082611"/>
            <a:ext cx="2061883" cy="55476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050" dirty="0">
                <a:latin typeface="Montserrat Light" pitchFamily="2" charset="77"/>
              </a:rPr>
              <a:t>Объявление и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награждение победителей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премии на БЕ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010F41D-0F6C-4716-88EA-D6363086D486}"/>
              </a:ext>
            </a:extLst>
          </p:cNvPr>
          <p:cNvSpPr/>
          <p:nvPr/>
        </p:nvSpPr>
        <p:spPr>
          <a:xfrm>
            <a:off x="7791481" y="801368"/>
            <a:ext cx="43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038985-4DAF-4B93-810C-D216689D2CB2}"/>
              </a:ext>
            </a:extLst>
          </p:cNvPr>
          <p:cNvSpPr txBox="1"/>
          <p:nvPr/>
        </p:nvSpPr>
        <p:spPr>
          <a:xfrm>
            <a:off x="743246" y="1675737"/>
            <a:ext cx="2066696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100" b="1" dirty="0">
                <a:solidFill>
                  <a:srgbClr val="00B050"/>
                </a:solidFill>
                <a:latin typeface="Montserrat Light" pitchFamily="2" charset="-52"/>
              </a:rPr>
              <a:t>До 6 </a:t>
            </a:r>
            <a:r>
              <a:rPr kumimoji="0" lang="ru-RU" sz="1100" b="1" u="none" strike="noStrike" cap="none" spc="0" normalizeH="0" baseline="0" dirty="0">
                <a:ln>
                  <a:noFill/>
                </a:ln>
                <a:solidFill>
                  <a:srgbClr val="00B050"/>
                </a:solidFill>
                <a:uFillTx/>
                <a:latin typeface="Montserrat Light" pitchFamily="2" charset="-52"/>
                <a:sym typeface="Helvetica"/>
              </a:rPr>
              <a:t>июля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4C0AFA-896D-4A48-9D8C-B9B7EE4BEB72}"/>
              </a:ext>
            </a:extLst>
          </p:cNvPr>
          <p:cNvSpPr txBox="1"/>
          <p:nvPr/>
        </p:nvSpPr>
        <p:spPr>
          <a:xfrm>
            <a:off x="3330493" y="1673845"/>
            <a:ext cx="180452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1400">
                <a:latin typeface="Montserrat Light" pitchFamily="2" charset="-52"/>
              </a:defRPr>
            </a:lvl1pPr>
          </a:lstStyle>
          <a:p>
            <a:r>
              <a:rPr lang="ru-RU" sz="1100" b="1" dirty="0">
                <a:solidFill>
                  <a:srgbClr val="00B050"/>
                </a:solidFill>
              </a:rPr>
              <a:t>7 - 20 июля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ACF429-AB79-418C-B19D-31AEEB4EBA8B}"/>
              </a:ext>
            </a:extLst>
          </p:cNvPr>
          <p:cNvSpPr txBox="1"/>
          <p:nvPr/>
        </p:nvSpPr>
        <p:spPr>
          <a:xfrm>
            <a:off x="5663687" y="1675737"/>
            <a:ext cx="180452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ru-RU" sz="1100" b="1" dirty="0">
                <a:solidFill>
                  <a:srgbClr val="00B050"/>
                </a:solidFill>
                <a:latin typeface="Montserrat Light" pitchFamily="2" charset="-52"/>
              </a:rPr>
              <a:t>21 июля – 3 августа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987A53-67E8-43B3-96C9-FDE73D201531}"/>
              </a:ext>
            </a:extLst>
          </p:cNvPr>
          <p:cNvSpPr txBox="1"/>
          <p:nvPr/>
        </p:nvSpPr>
        <p:spPr>
          <a:xfrm>
            <a:off x="8094883" y="1675737"/>
            <a:ext cx="180452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ru-RU" sz="1100" b="1" dirty="0">
                <a:solidFill>
                  <a:srgbClr val="00B050"/>
                </a:solidFill>
                <a:latin typeface="Montserrat Light" pitchFamily="2" charset="-52"/>
              </a:rPr>
              <a:t>Август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2CE8F6-CE9E-43C5-9C66-9407F1A98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376" y="3914444"/>
            <a:ext cx="4254096" cy="1860945"/>
          </a:xfrm>
          <a:prstGeom prst="rect">
            <a:avLst/>
          </a:prstGeom>
        </p:spPr>
      </p:pic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5751B117-39C7-4D94-9955-A5C102447824}"/>
              </a:ext>
            </a:extLst>
          </p:cNvPr>
          <p:cNvSpPr>
            <a:spLocks/>
          </p:cNvSpPr>
          <p:nvPr/>
        </p:nvSpPr>
        <p:spPr>
          <a:xfrm>
            <a:off x="571480" y="2141995"/>
            <a:ext cx="11049020" cy="873153"/>
          </a:xfrm>
          <a:prstGeom prst="round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chemeClr val="accent1"/>
                </a:solidFill>
                <a:latin typeface="Montserrat Regular"/>
              </a:rPr>
              <a:t>1</a:t>
            </a: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. </a:t>
            </a:r>
            <a:r>
              <a:rPr lang="en-US" sz="1400" b="1" dirty="0">
                <a:solidFill>
                  <a:schemeClr val="accent1"/>
                </a:solidFill>
                <a:latin typeface="Montserrat Regular"/>
              </a:rPr>
              <a:t>HR </a:t>
            </a: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БЕ собирает в едином </a:t>
            </a:r>
            <a:r>
              <a:rPr lang="en-US" sz="1400" b="1" dirty="0">
                <a:solidFill>
                  <a:schemeClr val="accent1"/>
                </a:solidFill>
                <a:latin typeface="Montserrat Regular"/>
              </a:rPr>
              <a:t>excel-</a:t>
            </a: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файле список всех направленных кандидатов (на текущем этапе удобнее </a:t>
            </a:r>
            <a:r>
              <a:rPr lang="en-US" sz="1400" b="1" dirty="0">
                <a:solidFill>
                  <a:schemeClr val="accent1"/>
                </a:solidFill>
                <a:latin typeface="Montserrat Regular"/>
              </a:rPr>
              <a:t>c</a:t>
            </a: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группировать список по фамилии и имени):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ФИО кандидата, должность, подразделение, номинация, количество заявок на кандидата.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Описание достижений кандидата (текст из раздела «почему кандидат заслуживает награду?»)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C9422A-6ED5-43CB-AF74-155B88E80F7A}"/>
              </a:ext>
            </a:extLst>
          </p:cNvPr>
          <p:cNvSpPr txBox="1"/>
          <p:nvPr/>
        </p:nvSpPr>
        <p:spPr>
          <a:xfrm>
            <a:off x="604385" y="3969747"/>
            <a:ext cx="6863823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Стаж работы в Группе компании "Хайлэнд Голд" более 1 года;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Должность ниже заместителя генерального директора (для управляющей компании) и управляющего директора (для предприятий);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Отсутствие дисциплинарных взысканий, нарушений </a:t>
            </a:r>
            <a:r>
              <a:rPr lang="ru-RU" sz="1200" dirty="0" err="1">
                <a:solidFill>
                  <a:schemeClr val="accent1"/>
                </a:solidFill>
                <a:latin typeface="Montserrat Regular"/>
                <a:sym typeface="Montserrat Regular"/>
              </a:rPr>
              <a:t>ОТиПБ</a:t>
            </a: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 (в течение последнего года работы), отсутствие выявленных инцидентов со стороны Службы безопасности (!);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Приверженность ценностям компании и достойный пример для окружающих;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Положительный опыт в наставничестве;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Высокие результаты в работе;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Ранее не присваивалась награда «Сотрудник года» Хайлэнд Голд (награда может быть присвоена только 1 раз).</a:t>
            </a:r>
          </a:p>
        </p:txBody>
      </p:sp>
    </p:spTree>
    <p:extLst>
      <p:ext uri="{BB962C8B-B14F-4D97-AF65-F5344CB8AC3E}">
        <p14:creationId xmlns:p14="http://schemas.microsoft.com/office/powerpoint/2010/main" val="2843036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5"/>
          <p:cNvSpPr txBox="1">
            <a:spLocks noGrp="1"/>
          </p:cNvSpPr>
          <p:nvPr>
            <p:ph type="title"/>
          </p:nvPr>
        </p:nvSpPr>
        <p:spPr>
          <a:xfrm>
            <a:off x="544525" y="286265"/>
            <a:ext cx="9010023" cy="4924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ШОРТ-ЛИСТ ПРЕМИИ</a:t>
            </a:r>
            <a:endParaRPr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8996B46-2BEB-4F26-B597-FFA21BF9C5AF}"/>
              </a:ext>
            </a:extLst>
          </p:cNvPr>
          <p:cNvSpPr>
            <a:spLocks/>
          </p:cNvSpPr>
          <p:nvPr/>
        </p:nvSpPr>
        <p:spPr>
          <a:xfrm>
            <a:off x="544525" y="2997122"/>
            <a:ext cx="11236348" cy="2165045"/>
          </a:xfrm>
          <a:prstGeom prst="round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3. Далее, </a:t>
            </a:r>
            <a:r>
              <a:rPr lang="en-US" sz="1400" b="1" dirty="0">
                <a:solidFill>
                  <a:schemeClr val="accent1"/>
                </a:solidFill>
                <a:latin typeface="Montserrat Regular"/>
              </a:rPr>
              <a:t>HR </a:t>
            </a: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БЕ проводит качественный отбор кандидатов, </a:t>
            </a:r>
            <a:r>
              <a:rPr lang="ru-RU" sz="1400" b="1" u="sng" dirty="0">
                <a:solidFill>
                  <a:schemeClr val="accent1"/>
                </a:solidFill>
                <a:latin typeface="Montserrat Regular"/>
              </a:rPr>
              <a:t>ориентируясь (!) </a:t>
            </a: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на описание достижений из заявок по кандидату и готовит шорт-лист для голосования (оптимально на голосование направить по 3-5 кандидата в каждой номинации):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Описание достижений в заявке должно «звучать» убедительно: содержать </a:t>
            </a: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конкретные результаты работы, описание ситуаций, демонстрирующих ценностное поведение, достойное награды (т.е. на основании описания действительно можно принять решение о награде).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Описание достижений в заявке должно соответствовать выбранной номинации (при несоответствии – вы можете принять решение о переносе заявки в другую номинацию).</a:t>
            </a:r>
            <a:endParaRPr lang="en-US" sz="1200" dirty="0">
              <a:solidFill>
                <a:schemeClr val="accent1"/>
              </a:solidFill>
              <a:latin typeface="Montserrat Regular"/>
              <a:sym typeface="Montserrat Regular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На этом этапе необходимо проверить, имеет ли кандидат опыт наставничества для молодых сотрудников и опыт передачи знаний коллегам (наличие пройденного курса в Академии </a:t>
            </a:r>
            <a:r>
              <a:rPr lang="ru-RU" sz="1200" dirty="0" err="1">
                <a:solidFill>
                  <a:schemeClr val="accent1"/>
                </a:solidFill>
                <a:latin typeface="Montserrat Regular"/>
                <a:sym typeface="Montserrat Regular"/>
              </a:rPr>
              <a:t>Хайлэнд</a:t>
            </a: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 </a:t>
            </a:r>
            <a:r>
              <a:rPr lang="ru-RU" sz="1200" dirty="0" err="1">
                <a:solidFill>
                  <a:schemeClr val="accent1"/>
                </a:solidFill>
                <a:latin typeface="Montserrat Regular"/>
                <a:sym typeface="Montserrat Regular"/>
              </a:rPr>
              <a:t>Голд</a:t>
            </a: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 «Эффективный наставник», реальный опыт работы в роли наставника (подтверждено контрольными листами и выгрузкой из 1С, приказ о премировании за наставничество), участие в качестве внутреннего спикера, тренера, участие в подготовке образовательных курсов в Академии </a:t>
            </a:r>
            <a:r>
              <a:rPr lang="ru-RU" sz="1200" dirty="0" err="1">
                <a:solidFill>
                  <a:schemeClr val="accent1"/>
                </a:solidFill>
                <a:latin typeface="Montserrat Regular"/>
                <a:sym typeface="Montserrat Regular"/>
              </a:rPr>
              <a:t>Хайлэнд</a:t>
            </a: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 </a:t>
            </a:r>
            <a:r>
              <a:rPr lang="ru-RU" sz="1200" dirty="0" err="1">
                <a:solidFill>
                  <a:schemeClr val="accent1"/>
                </a:solidFill>
                <a:latin typeface="Montserrat Regular"/>
                <a:sym typeface="Montserrat Regular"/>
              </a:rPr>
              <a:t>Голд</a:t>
            </a: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 и подобное). При принятии решения о прохождении кандидатов в шорт-лист, </a:t>
            </a:r>
            <a:r>
              <a:rPr lang="ru-RU" sz="1200" dirty="0" err="1">
                <a:solidFill>
                  <a:schemeClr val="accent1"/>
                </a:solidFill>
                <a:latin typeface="Montserrat Regular"/>
                <a:sym typeface="Montserrat Regular"/>
              </a:rPr>
              <a:t>бОльший</a:t>
            </a: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 вес отдается за того, кто имеет </a:t>
            </a:r>
            <a:r>
              <a:rPr lang="ru-RU" sz="1200" dirty="0" err="1">
                <a:solidFill>
                  <a:schemeClr val="accent1"/>
                </a:solidFill>
                <a:latin typeface="Montserrat Regular"/>
                <a:sym typeface="Montserrat Regular"/>
              </a:rPr>
              <a:t>бОльший</a:t>
            </a: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 опыт в наставничестве и </a:t>
            </a:r>
            <a:r>
              <a:rPr lang="ru-RU" sz="1200" dirty="0" err="1">
                <a:solidFill>
                  <a:schemeClr val="accent1"/>
                </a:solidFill>
                <a:latin typeface="Montserrat Regular"/>
                <a:sym typeface="Montserrat Regular"/>
              </a:rPr>
              <a:t>бОльшее</a:t>
            </a: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 количество проведенных обучений в роли наставника.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На этом этапе необходимо проверить, имеет ли кандидат высокие результаты в работе (р</a:t>
            </a: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езультаты выполнения СОЦ (файл расчета годового бонуса), результаты выполнения ежемесячной премии, комментарии коллег, руководителя). Отчетный период – последний год работы. </a:t>
            </a: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Кандидаты, имеющие низкие показатели в работе – не проходят в шорт-лист.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Согласуйте свое решение с Управляющим директором.</a:t>
            </a:r>
          </a:p>
          <a:p>
            <a:pPr>
              <a:spcAft>
                <a:spcPts val="600"/>
              </a:spcAft>
            </a:pPr>
            <a:endParaRPr lang="ru-RU" sz="1200" dirty="0">
              <a:solidFill>
                <a:schemeClr val="accent1"/>
              </a:solidFill>
              <a:latin typeface="Montserrat Regular"/>
              <a:sym typeface="Montserrat Regula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03D3D4-F6B4-485C-BFFF-9FD5A6C9D6D2}"/>
              </a:ext>
            </a:extLst>
          </p:cNvPr>
          <p:cNvSpPr txBox="1"/>
          <p:nvPr/>
        </p:nvSpPr>
        <p:spPr>
          <a:xfrm>
            <a:off x="432079" y="5878209"/>
            <a:ext cx="116100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i="1" dirty="0">
                <a:solidFill>
                  <a:srgbClr val="00B050"/>
                </a:solidFill>
                <a:latin typeface="Montserrat Regular"/>
                <a:sym typeface="Montserrat Regular"/>
              </a:rPr>
              <a:t>Формирую шорт-лист для голосования, приоритет необходимо отдавать рабочему персоналу, основных производственных подразделений.</a:t>
            </a:r>
          </a:p>
          <a:p>
            <a:pPr algn="ctr"/>
            <a:r>
              <a:rPr lang="ru-RU" sz="1100" i="1" dirty="0">
                <a:solidFill>
                  <a:srgbClr val="00B050"/>
                </a:solidFill>
                <a:latin typeface="Montserrat Regular"/>
                <a:sym typeface="Montserrat Regular"/>
              </a:rPr>
              <a:t>Помните: Сотрудник года — это не просто добрый и отзывчивый человек, но и такой специалист, который на самом деле является образцом для подражания в профессиональной деятельности, тем самым значительно способствуя успеху компании.</a:t>
            </a:r>
            <a:endParaRPr lang="ru-RU" sz="1100" i="1" dirty="0">
              <a:solidFill>
                <a:srgbClr val="00B050"/>
              </a:solidFill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8723247A-3911-4A19-9C93-1563E08FEBA3}"/>
              </a:ext>
            </a:extLst>
          </p:cNvPr>
          <p:cNvSpPr/>
          <p:nvPr/>
        </p:nvSpPr>
        <p:spPr>
          <a:xfrm>
            <a:off x="647553" y="1082611"/>
            <a:ext cx="2265915" cy="55476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050" dirty="0">
                <a:latin typeface="Montserrat Light" pitchFamily="2" charset="77"/>
              </a:rPr>
              <a:t>Подача заявок для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участия в премии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(номинирование)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93779E72-04D1-427C-92C5-ACF50095AA8F}"/>
              </a:ext>
            </a:extLst>
          </p:cNvPr>
          <p:cNvSpPr/>
          <p:nvPr/>
        </p:nvSpPr>
        <p:spPr>
          <a:xfrm>
            <a:off x="3122954" y="1040079"/>
            <a:ext cx="2061883" cy="6463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200" b="1" dirty="0">
                <a:solidFill>
                  <a:schemeClr val="accent1"/>
                </a:solidFill>
                <a:latin typeface="Montserrat Regular"/>
              </a:rPr>
              <a:t>Формирование </a:t>
            </a:r>
          </a:p>
          <a:p>
            <a:pPr algn="ctr"/>
            <a:r>
              <a:rPr lang="ru-RU" sz="1200" b="1" dirty="0">
                <a:solidFill>
                  <a:schemeClr val="accent1"/>
                </a:solidFill>
                <a:latin typeface="Montserrat Regular"/>
              </a:rPr>
              <a:t>шорт-листа премии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AF90E25-0258-4581-A176-AD4A5693F15D}"/>
              </a:ext>
            </a:extLst>
          </p:cNvPr>
          <p:cNvSpPr/>
          <p:nvPr/>
        </p:nvSpPr>
        <p:spPr>
          <a:xfrm>
            <a:off x="5449493" y="1082611"/>
            <a:ext cx="2061883" cy="55476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050" dirty="0">
                <a:latin typeface="Montserrat Light" pitchFamily="2" charset="77"/>
              </a:rPr>
              <a:t>Определение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победителей путем голосования сотрудников 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A96A5E5-6552-4511-B0A7-634B243BB358}"/>
              </a:ext>
            </a:extLst>
          </p:cNvPr>
          <p:cNvSpPr/>
          <p:nvPr/>
        </p:nvSpPr>
        <p:spPr>
          <a:xfrm>
            <a:off x="571480" y="793095"/>
            <a:ext cx="47643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6E423B3-7C36-49D7-9A40-EE620C838E8D}"/>
              </a:ext>
            </a:extLst>
          </p:cNvPr>
          <p:cNvSpPr/>
          <p:nvPr/>
        </p:nvSpPr>
        <p:spPr>
          <a:xfrm>
            <a:off x="3076859" y="784198"/>
            <a:ext cx="43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2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1DF92F7-95D7-49BF-81A6-D28B5BD93781}"/>
              </a:ext>
            </a:extLst>
          </p:cNvPr>
          <p:cNvSpPr/>
          <p:nvPr/>
        </p:nvSpPr>
        <p:spPr>
          <a:xfrm>
            <a:off x="5403398" y="807846"/>
            <a:ext cx="43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3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423966D0-FA25-432B-8941-58EE013FB827}"/>
              </a:ext>
            </a:extLst>
          </p:cNvPr>
          <p:cNvSpPr/>
          <p:nvPr/>
        </p:nvSpPr>
        <p:spPr>
          <a:xfrm>
            <a:off x="7859037" y="1082611"/>
            <a:ext cx="2061883" cy="55476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050" dirty="0">
                <a:latin typeface="Montserrat Light" pitchFamily="2" charset="77"/>
              </a:rPr>
              <a:t>Объявление и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награждение победителей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премии на БЕ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DA29001-1402-4D44-BFDF-D0979DDED717}"/>
              </a:ext>
            </a:extLst>
          </p:cNvPr>
          <p:cNvSpPr/>
          <p:nvPr/>
        </p:nvSpPr>
        <p:spPr>
          <a:xfrm>
            <a:off x="7791481" y="801368"/>
            <a:ext cx="43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1C35DF-7DA2-487F-833A-644F2A5BFC13}"/>
              </a:ext>
            </a:extLst>
          </p:cNvPr>
          <p:cNvSpPr txBox="1"/>
          <p:nvPr/>
        </p:nvSpPr>
        <p:spPr>
          <a:xfrm>
            <a:off x="743246" y="1675737"/>
            <a:ext cx="2066696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100" b="1" dirty="0">
                <a:solidFill>
                  <a:srgbClr val="00B050"/>
                </a:solidFill>
                <a:latin typeface="Montserrat Light" pitchFamily="2" charset="-52"/>
              </a:rPr>
              <a:t>До 6 </a:t>
            </a:r>
            <a:r>
              <a:rPr kumimoji="0" lang="ru-RU" sz="1100" b="1" u="none" strike="noStrike" cap="none" spc="0" normalizeH="0" baseline="0" dirty="0">
                <a:ln>
                  <a:noFill/>
                </a:ln>
                <a:solidFill>
                  <a:srgbClr val="00B050"/>
                </a:solidFill>
                <a:uFillTx/>
                <a:latin typeface="Montserrat Light" pitchFamily="2" charset="-52"/>
                <a:sym typeface="Helvetica"/>
              </a:rPr>
              <a:t>июля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8A9B8F-183D-421C-B678-C8A8FE55554A}"/>
              </a:ext>
            </a:extLst>
          </p:cNvPr>
          <p:cNvSpPr txBox="1"/>
          <p:nvPr/>
        </p:nvSpPr>
        <p:spPr>
          <a:xfrm>
            <a:off x="3330493" y="1673845"/>
            <a:ext cx="180452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1400">
                <a:latin typeface="Montserrat Light" pitchFamily="2" charset="-52"/>
              </a:defRPr>
            </a:lvl1pPr>
          </a:lstStyle>
          <a:p>
            <a:r>
              <a:rPr lang="ru-RU" sz="1100" b="1" dirty="0">
                <a:solidFill>
                  <a:srgbClr val="00B050"/>
                </a:solidFill>
              </a:rPr>
              <a:t>7 - 20 июля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25A1DC-B9FC-46C4-BD45-C8DECFF03657}"/>
              </a:ext>
            </a:extLst>
          </p:cNvPr>
          <p:cNvSpPr txBox="1"/>
          <p:nvPr/>
        </p:nvSpPr>
        <p:spPr>
          <a:xfrm>
            <a:off x="5663687" y="1675737"/>
            <a:ext cx="180452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ru-RU" sz="1100" b="1" dirty="0">
                <a:solidFill>
                  <a:srgbClr val="00B050"/>
                </a:solidFill>
                <a:latin typeface="Montserrat Light" pitchFamily="2" charset="-52"/>
              </a:rPr>
              <a:t>21 июля – 3 августа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A86F9F-DA60-4A77-8591-0B6C1695F2C7}"/>
              </a:ext>
            </a:extLst>
          </p:cNvPr>
          <p:cNvSpPr txBox="1"/>
          <p:nvPr/>
        </p:nvSpPr>
        <p:spPr>
          <a:xfrm>
            <a:off x="8094883" y="1675737"/>
            <a:ext cx="180452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ru-RU" sz="1100" b="1" dirty="0">
                <a:solidFill>
                  <a:srgbClr val="00B050"/>
                </a:solidFill>
                <a:latin typeface="Montserrat Light" pitchFamily="2" charset="-52"/>
              </a:rPr>
              <a:t>Август</a:t>
            </a:r>
          </a:p>
        </p:txBody>
      </p:sp>
    </p:spTree>
    <p:extLst>
      <p:ext uri="{BB962C8B-B14F-4D97-AF65-F5344CB8AC3E}">
        <p14:creationId xmlns:p14="http://schemas.microsoft.com/office/powerpoint/2010/main" val="93703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D1034D7F-8D95-4C54-A22B-93AC29549E34}"/>
              </a:ext>
            </a:extLst>
          </p:cNvPr>
          <p:cNvSpPr txBox="1">
            <a:spLocks/>
          </p:cNvSpPr>
          <p:nvPr/>
        </p:nvSpPr>
        <p:spPr>
          <a:xfrm>
            <a:off x="624578" y="496812"/>
            <a:ext cx="6416713" cy="423081"/>
          </a:xfrm>
          <a:prstGeom prst="rect">
            <a:avLst/>
          </a:prstGeom>
        </p:spPr>
        <p:txBody>
          <a:bodyPr/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algn="ctr" hangingPunct="1"/>
            <a:r>
              <a:rPr lang="ru-RU" sz="1600" dirty="0">
                <a:solidFill>
                  <a:srgbClr val="00B050"/>
                </a:solidFill>
              </a:rPr>
              <a:t>Хорошие</a:t>
            </a:r>
            <a:r>
              <a:rPr lang="ru-RU" sz="1600" dirty="0"/>
              <a:t> примеры описания достижений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9F228-CA8E-4C90-9ADA-7248A9CF0564}"/>
              </a:ext>
            </a:extLst>
          </p:cNvPr>
          <p:cNvSpPr txBox="1"/>
          <p:nvPr/>
        </p:nvSpPr>
        <p:spPr>
          <a:xfrm>
            <a:off x="469691" y="1319443"/>
            <a:ext cx="3047114" cy="44012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accent1"/>
                </a:solidFill>
                <a:latin typeface="Montserrat Regular"/>
              </a:rPr>
              <a:t>Алексей изучил много методик диагностирования и ремонта сложного технологического оборудования современными приборами - EASY-LASER Е420 (прибор центровки об-</a:t>
            </a:r>
            <a:r>
              <a:rPr lang="ru-RU" sz="1000" dirty="0" err="1">
                <a:solidFill>
                  <a:schemeClr val="accent1"/>
                </a:solidFill>
                <a:latin typeface="Montserrat Regular"/>
              </a:rPr>
              <a:t>ния</a:t>
            </a:r>
            <a:r>
              <a:rPr lang="ru-RU" sz="1000" dirty="0">
                <a:solidFill>
                  <a:schemeClr val="accent1"/>
                </a:solidFill>
                <a:latin typeface="Montserrat Regular"/>
              </a:rPr>
              <a:t>), SKF TMEB 2 (прибор выверки ременных передач), Olympus MG2-XT UT (толщиномер) и </a:t>
            </a:r>
            <a:r>
              <a:rPr lang="ru-RU" sz="1000" dirty="0" err="1">
                <a:solidFill>
                  <a:schemeClr val="accent1"/>
                </a:solidFill>
                <a:latin typeface="Montserrat Regular"/>
              </a:rPr>
              <a:t>т.д</a:t>
            </a:r>
            <a:r>
              <a:rPr lang="ru-RU" sz="1000" dirty="0">
                <a:solidFill>
                  <a:schemeClr val="accent1"/>
                </a:solidFill>
                <a:latin typeface="Montserrat Regular"/>
              </a:rPr>
              <a:t>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accent1"/>
              </a:solidFill>
              <a:latin typeface="Montserrat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accent1"/>
              </a:solidFill>
              <a:latin typeface="Montserrat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accent1"/>
              </a:solidFill>
              <a:latin typeface="Montserrat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accent1"/>
                </a:solidFill>
                <a:latin typeface="Montserrat Regular"/>
              </a:rPr>
              <a:t>Виктор постоянно совершенствует свои знания в области слесарного дела, качественно, эффективно и оперативно выполняет ремонты повышенной сложности, особенно там где не достаточно обладать рядовыми знаниями, а необходимо проявлять конструкторскую смекалку и изобретательность.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accent1"/>
              </a:solidFill>
              <a:latin typeface="Montserrat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accent1"/>
              </a:solidFill>
              <a:latin typeface="Montserrat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accent1"/>
              </a:solidFill>
              <a:latin typeface="Montserrat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accent1"/>
                </a:solidFill>
                <a:latin typeface="Montserrat Regular"/>
              </a:rPr>
              <a:t>Виктор не боится "сложных" задач, там где требуется срочный/сложный ремонт и необходимо оперативно запустить оборудование в работу в 80% случаях всегда привлекают Виктора. </a:t>
            </a:r>
            <a:endParaRPr lang="en-US" sz="1000" dirty="0">
              <a:solidFill>
                <a:schemeClr val="accent1"/>
              </a:solidFill>
              <a:latin typeface="Montserrat Regula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4FF72B-177A-4414-8CDC-B2B247D5A4EC}"/>
              </a:ext>
            </a:extLst>
          </p:cNvPr>
          <p:cNvSpPr txBox="1"/>
          <p:nvPr/>
        </p:nvSpPr>
        <p:spPr>
          <a:xfrm>
            <a:off x="3432419" y="1319443"/>
            <a:ext cx="3770814" cy="34778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accent1"/>
                </a:solidFill>
                <a:latin typeface="Montserrat Regular"/>
              </a:rPr>
              <a:t>Людмила Витальевна не только грамотный доктор-универсал, но и душа нашего коллектива, которая может выслушать, поддержать, пожурить и пожалеть, а это просто необходимо в условиях работы вахтовым методом. Выдвигая доктора номинантом "Наставник года" хочется отметить её профессионализм и огромный опыт, ответственность и организованность, умение учить и передавать багаж своих знаний нам, молодому поколению. Но самое главное её качество - это терпение к молодым фельдшерам, сотрудникам, обратившимся за медицинской помощью.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accent1"/>
              </a:solidFill>
              <a:latin typeface="Montserrat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accent1"/>
              </a:solidFill>
              <a:latin typeface="Montserrat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>
              <a:solidFill>
                <a:schemeClr val="accent1"/>
              </a:solidFill>
              <a:latin typeface="Montserrat Regula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accent1"/>
                </a:solidFill>
                <a:latin typeface="Montserrat Regular"/>
              </a:rPr>
              <a:t>Всегда помогает в решении вопросов своей компетенции, старается вникнуть в суть вопроса, подключает при необходимости других специалистов используя свой практический опыт и личный авторитет среди коллег.</a:t>
            </a:r>
          </a:p>
          <a:p>
            <a:endParaRPr lang="ru-RU" sz="1000" dirty="0">
              <a:solidFill>
                <a:schemeClr val="accent1"/>
              </a:solidFill>
              <a:latin typeface="Montserrat Regular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7DF4FC8-836D-419A-AAFC-E8775E6A82C7}"/>
              </a:ext>
            </a:extLst>
          </p:cNvPr>
          <p:cNvSpPr txBox="1">
            <a:spLocks/>
          </p:cNvSpPr>
          <p:nvPr/>
        </p:nvSpPr>
        <p:spPr>
          <a:xfrm>
            <a:off x="7676204" y="367129"/>
            <a:ext cx="4145462" cy="940562"/>
          </a:xfrm>
          <a:prstGeom prst="rect">
            <a:avLst/>
          </a:prstGeom>
        </p:spPr>
        <p:txBody>
          <a:bodyPr/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all" spc="0" baseline="0">
                <a:solidFill>
                  <a:schemeClr val="accent1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algn="ctr" hangingPunct="1"/>
            <a:r>
              <a:rPr lang="ru-RU" sz="1600" dirty="0">
                <a:solidFill>
                  <a:srgbClr val="FF0000"/>
                </a:solidFill>
              </a:rPr>
              <a:t>плохие</a:t>
            </a:r>
            <a:r>
              <a:rPr lang="ru-RU" dirty="0"/>
              <a:t> </a:t>
            </a:r>
            <a:r>
              <a:rPr lang="ru-RU" sz="1600" dirty="0"/>
              <a:t>примеры описания достижений </a:t>
            </a:r>
          </a:p>
          <a:p>
            <a:pPr algn="ctr" hangingPunct="1"/>
            <a:r>
              <a:rPr lang="ru-RU" sz="1100" dirty="0"/>
              <a:t>(</a:t>
            </a:r>
            <a:r>
              <a:rPr lang="ru-RU" sz="1100" cap="none" dirty="0"/>
              <a:t>Когда сложно сделать выводы, </a:t>
            </a:r>
          </a:p>
          <a:p>
            <a:pPr algn="ctr" hangingPunct="1"/>
            <a:r>
              <a:rPr lang="ru-RU" sz="1100" cap="none" dirty="0"/>
              <a:t>нет конкретики</a:t>
            </a:r>
            <a:r>
              <a:rPr lang="ru-RU" sz="1100" dirty="0"/>
              <a:t>)</a:t>
            </a:r>
            <a:endParaRPr lang="ru-RU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8E9E7-7AA4-4E81-BD98-86B56F7E0F44}"/>
              </a:ext>
            </a:extLst>
          </p:cNvPr>
          <p:cNvSpPr txBox="1"/>
          <p:nvPr/>
        </p:nvSpPr>
        <p:spPr>
          <a:xfrm>
            <a:off x="7729544" y="1686449"/>
            <a:ext cx="3770814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accent1"/>
                </a:solidFill>
                <a:latin typeface="Montserrat Regular"/>
              </a:rPr>
              <a:t>Хороший напарник, ответственный работник</a:t>
            </a:r>
          </a:p>
          <a:p>
            <a:endParaRPr lang="ru-RU" sz="1000" dirty="0">
              <a:solidFill>
                <a:schemeClr val="accent1"/>
              </a:solidFill>
              <a:latin typeface="Montserrat Regula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381863-F654-4364-8812-C11645D7DFFD}"/>
              </a:ext>
            </a:extLst>
          </p:cNvPr>
          <p:cNvSpPr txBox="1"/>
          <p:nvPr/>
        </p:nvSpPr>
        <p:spPr>
          <a:xfrm>
            <a:off x="7729544" y="2177489"/>
            <a:ext cx="3770814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accent1"/>
                </a:solidFill>
                <a:latin typeface="Montserrat Regular"/>
              </a:rPr>
              <a:t>Мастер своего дела</a:t>
            </a:r>
          </a:p>
          <a:p>
            <a:endParaRPr lang="ru-RU" sz="1000" dirty="0">
              <a:solidFill>
                <a:schemeClr val="accent1"/>
              </a:solidFill>
              <a:latin typeface="Montserrat Regula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70992-E763-4D58-B9D7-5A047CD848D7}"/>
              </a:ext>
            </a:extLst>
          </p:cNvPr>
          <p:cNvSpPr txBox="1"/>
          <p:nvPr/>
        </p:nvSpPr>
        <p:spPr>
          <a:xfrm>
            <a:off x="7729544" y="2668529"/>
            <a:ext cx="3770814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accent1"/>
                </a:solidFill>
                <a:latin typeface="Montserrat Regular"/>
              </a:rPr>
              <a:t>Благодарю Елену за то, какая она есть</a:t>
            </a:r>
          </a:p>
          <a:p>
            <a:endParaRPr lang="ru-RU" sz="1000" dirty="0">
              <a:solidFill>
                <a:schemeClr val="accent1"/>
              </a:solidFill>
              <a:latin typeface="Montserrat Regular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A49BA5B-92A0-44B4-9346-0F6017659C02}"/>
              </a:ext>
            </a:extLst>
          </p:cNvPr>
          <p:cNvSpPr/>
          <p:nvPr/>
        </p:nvSpPr>
        <p:spPr>
          <a:xfrm>
            <a:off x="370334" y="288471"/>
            <a:ext cx="6925202" cy="6328639"/>
          </a:xfrm>
          <a:prstGeom prst="rect">
            <a:avLst/>
          </a:prstGeom>
          <a:noFill/>
          <a:ln w="317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85D3DF1-2DC6-4CE7-93A2-16D6621425B2}"/>
              </a:ext>
            </a:extLst>
          </p:cNvPr>
          <p:cNvSpPr/>
          <p:nvPr/>
        </p:nvSpPr>
        <p:spPr>
          <a:xfrm>
            <a:off x="7577881" y="270101"/>
            <a:ext cx="4243785" cy="6328639"/>
          </a:xfrm>
          <a:prstGeom prst="rect">
            <a:avLst/>
          </a:prstGeom>
          <a:noFill/>
          <a:ln w="3175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73635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5"/>
          <p:cNvSpPr txBox="1">
            <a:spLocks noGrp="1"/>
          </p:cNvSpPr>
          <p:nvPr>
            <p:ph type="title"/>
          </p:nvPr>
        </p:nvSpPr>
        <p:spPr>
          <a:xfrm>
            <a:off x="544525" y="286265"/>
            <a:ext cx="9010023" cy="4924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Этапы и сроки проведения Премии</a:t>
            </a:r>
            <a:endParaRPr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F2C8F76-AEE7-4E37-8FD9-EF7B4BBAEFDB}"/>
              </a:ext>
            </a:extLst>
          </p:cNvPr>
          <p:cNvSpPr/>
          <p:nvPr/>
        </p:nvSpPr>
        <p:spPr>
          <a:xfrm>
            <a:off x="647553" y="1082611"/>
            <a:ext cx="2265915" cy="55476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050" dirty="0">
                <a:latin typeface="Montserrat Light" pitchFamily="2" charset="77"/>
              </a:rPr>
              <a:t>Подача заявок для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участия в премии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(номинирование)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D81F2F1-29E3-454D-AEEA-E1039097C69C}"/>
              </a:ext>
            </a:extLst>
          </p:cNvPr>
          <p:cNvSpPr/>
          <p:nvPr/>
        </p:nvSpPr>
        <p:spPr>
          <a:xfrm>
            <a:off x="3122954" y="1040079"/>
            <a:ext cx="2061883" cy="64633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050" dirty="0">
                <a:latin typeface="Montserrat Light" pitchFamily="2" charset="77"/>
              </a:rPr>
              <a:t>Формирование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шорт-листа премии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65ACB73-9255-4C2F-8288-5CCD1A351593}"/>
              </a:ext>
            </a:extLst>
          </p:cNvPr>
          <p:cNvSpPr/>
          <p:nvPr/>
        </p:nvSpPr>
        <p:spPr>
          <a:xfrm>
            <a:off x="5449493" y="997547"/>
            <a:ext cx="2280444" cy="68886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200" b="1" dirty="0">
                <a:solidFill>
                  <a:schemeClr val="accent1"/>
                </a:solidFill>
                <a:latin typeface="Montserrat Regular"/>
              </a:rPr>
              <a:t>Определение </a:t>
            </a:r>
          </a:p>
          <a:p>
            <a:pPr algn="ctr"/>
            <a:r>
              <a:rPr lang="ru-RU" sz="1200" b="1" dirty="0">
                <a:solidFill>
                  <a:schemeClr val="accent1"/>
                </a:solidFill>
                <a:latin typeface="Montserrat Regular"/>
              </a:rPr>
              <a:t>победителей путем голосования сотрудников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2255125-FE04-4295-8315-17BD031C552B}"/>
              </a:ext>
            </a:extLst>
          </p:cNvPr>
          <p:cNvSpPr/>
          <p:nvPr/>
        </p:nvSpPr>
        <p:spPr>
          <a:xfrm>
            <a:off x="571480" y="793095"/>
            <a:ext cx="47643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0377632-D22B-4496-92D6-78DC8A088745}"/>
              </a:ext>
            </a:extLst>
          </p:cNvPr>
          <p:cNvSpPr/>
          <p:nvPr/>
        </p:nvSpPr>
        <p:spPr>
          <a:xfrm>
            <a:off x="3076859" y="784198"/>
            <a:ext cx="43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59F209A-EF22-4642-ADAE-801AFDEE5270}"/>
              </a:ext>
            </a:extLst>
          </p:cNvPr>
          <p:cNvSpPr/>
          <p:nvPr/>
        </p:nvSpPr>
        <p:spPr>
          <a:xfrm>
            <a:off x="5403398" y="807846"/>
            <a:ext cx="43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3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974949B-32A2-46EF-A210-9D7DF915B6B4}"/>
              </a:ext>
            </a:extLst>
          </p:cNvPr>
          <p:cNvSpPr/>
          <p:nvPr/>
        </p:nvSpPr>
        <p:spPr>
          <a:xfrm>
            <a:off x="7859037" y="1082611"/>
            <a:ext cx="2061883" cy="554761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algn="ctr"/>
            <a:r>
              <a:rPr lang="ru-RU" sz="1050" dirty="0">
                <a:latin typeface="Montserrat Light" pitchFamily="2" charset="77"/>
              </a:rPr>
              <a:t>Объявление и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награждение победителей </a:t>
            </a:r>
          </a:p>
          <a:p>
            <a:pPr algn="ctr"/>
            <a:r>
              <a:rPr lang="ru-RU" sz="1050" dirty="0">
                <a:latin typeface="Montserrat Light" pitchFamily="2" charset="77"/>
              </a:rPr>
              <a:t>Премии на БЕ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0298A27-81BE-4E2D-9220-DD74A77AF5BF}"/>
              </a:ext>
            </a:extLst>
          </p:cNvPr>
          <p:cNvSpPr/>
          <p:nvPr/>
        </p:nvSpPr>
        <p:spPr>
          <a:xfrm>
            <a:off x="7791481" y="801368"/>
            <a:ext cx="43353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4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FC9273E5-7130-4D1C-B933-B788EDA3B8DE}"/>
              </a:ext>
            </a:extLst>
          </p:cNvPr>
          <p:cNvSpPr>
            <a:spLocks/>
          </p:cNvSpPr>
          <p:nvPr/>
        </p:nvSpPr>
        <p:spPr>
          <a:xfrm>
            <a:off x="504659" y="3347264"/>
            <a:ext cx="7844691" cy="1759273"/>
          </a:xfrm>
          <a:prstGeom prst="round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В период с 21 июля по 3 августа </a:t>
            </a:r>
            <a:r>
              <a:rPr lang="en-US" sz="1400" b="1" dirty="0">
                <a:solidFill>
                  <a:schemeClr val="accent1"/>
                </a:solidFill>
                <a:latin typeface="Montserrat Regular"/>
              </a:rPr>
              <a:t>HR </a:t>
            </a:r>
            <a:r>
              <a:rPr lang="ru-RU" sz="1400" b="1" dirty="0">
                <a:solidFill>
                  <a:schemeClr val="accent1"/>
                </a:solidFill>
                <a:latin typeface="Montserrat Regular"/>
              </a:rPr>
              <a:t>БЕ организует электронное голосование среди сотрудников БЕ: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К голосованию обязательно прикладывается краткая информация о финалисте (ФИО, фото, должность, подразделение и все описания достижений из направленных по нему заявок).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Голосование за победителя проводится с помощью сервиса </a:t>
            </a:r>
            <a:r>
              <a:rPr lang="en-US" sz="1200" dirty="0" err="1">
                <a:solidFill>
                  <a:schemeClr val="accent1"/>
                </a:solidFill>
                <a:latin typeface="Montserrat Regular"/>
              </a:rPr>
              <a:t>Anketolog</a:t>
            </a: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.</a:t>
            </a:r>
            <a:r>
              <a:rPr lang="en-US" sz="1200" dirty="0" err="1">
                <a:solidFill>
                  <a:schemeClr val="accent1"/>
                </a:solidFill>
                <a:latin typeface="Montserrat Regular"/>
              </a:rPr>
              <a:t>ru</a:t>
            </a: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. Создать форму помогут сотрудники отдела </a:t>
            </a:r>
            <a:r>
              <a:rPr lang="ru-RU" sz="1200" dirty="0" err="1">
                <a:solidFill>
                  <a:schemeClr val="accent1"/>
                </a:solidFill>
                <a:latin typeface="Montserrat Regular"/>
                <a:sym typeface="Montserrat Regular"/>
              </a:rPr>
              <a:t>внутриком</a:t>
            </a: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 УК / БЕ на основании направленных данных по финалистам от </a:t>
            </a:r>
            <a:r>
              <a:rPr lang="en-US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HR </a:t>
            </a:r>
            <a:r>
              <a:rPr lang="ru-RU" sz="1200" dirty="0">
                <a:solidFill>
                  <a:schemeClr val="accent1"/>
                </a:solidFill>
                <a:latin typeface="Montserrat Regular"/>
                <a:sym typeface="Montserrat Regular"/>
              </a:rPr>
              <a:t>БЕ 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В голосовании принимают участие все сотрудники БЕ.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Призыв о голосовании распространяется в электронном виде через корпоративный портал, </a:t>
            </a:r>
            <a:r>
              <a:rPr lang="en-US" sz="1200" dirty="0">
                <a:solidFill>
                  <a:schemeClr val="accent1"/>
                </a:solidFill>
                <a:latin typeface="Montserrat Regular"/>
              </a:rPr>
              <a:t>e-mail </a:t>
            </a: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рассылку, чат-бот и другие имеющие сервисы коммуникаций на БЕ (отв. </a:t>
            </a:r>
            <a:r>
              <a:rPr lang="en-US" sz="1200" dirty="0">
                <a:solidFill>
                  <a:schemeClr val="accent1"/>
                </a:solidFill>
                <a:latin typeface="Montserrat Regular"/>
              </a:rPr>
              <a:t>HR </a:t>
            </a: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БЕ, </a:t>
            </a:r>
            <a:r>
              <a:rPr lang="ru-RU" sz="1200" dirty="0" err="1">
                <a:solidFill>
                  <a:schemeClr val="accent1"/>
                </a:solidFill>
                <a:latin typeface="Montserrat Regular"/>
              </a:rPr>
              <a:t>внутриком</a:t>
            </a: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 БЕ).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Проголосовать одному сотруднику можно только один раз.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accent1"/>
                </a:solidFill>
                <a:latin typeface="Montserrat Regular"/>
              </a:rPr>
              <a:t>По результатам голосования от БЕ определяется </a:t>
            </a:r>
            <a:r>
              <a:rPr lang="ru-RU" sz="1200" b="1" dirty="0">
                <a:solidFill>
                  <a:schemeClr val="accent1"/>
                </a:solidFill>
                <a:latin typeface="Montserrat Regular"/>
              </a:rPr>
              <a:t>4 победителя (по одному в каждой номинации, 4 номинации = 4 победителя).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9ACA1D-5DD1-49EB-923B-171D87B3F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350" y="2059858"/>
            <a:ext cx="2994566" cy="427379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23821B5-9EAD-4CA0-8ACF-DD648B59A419}"/>
              </a:ext>
            </a:extLst>
          </p:cNvPr>
          <p:cNvSpPr txBox="1"/>
          <p:nvPr/>
        </p:nvSpPr>
        <p:spPr>
          <a:xfrm>
            <a:off x="743246" y="1675737"/>
            <a:ext cx="2066696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100" b="1" dirty="0">
                <a:solidFill>
                  <a:srgbClr val="00B050"/>
                </a:solidFill>
                <a:latin typeface="Montserrat Light" pitchFamily="2" charset="-52"/>
              </a:rPr>
              <a:t>До 6 </a:t>
            </a:r>
            <a:r>
              <a:rPr kumimoji="0" lang="ru-RU" sz="1100" b="1" u="none" strike="noStrike" cap="none" spc="0" normalizeH="0" baseline="0" dirty="0">
                <a:ln>
                  <a:noFill/>
                </a:ln>
                <a:solidFill>
                  <a:srgbClr val="00B050"/>
                </a:solidFill>
                <a:uFillTx/>
                <a:latin typeface="Montserrat Light" pitchFamily="2" charset="-52"/>
                <a:sym typeface="Helvetica"/>
              </a:rPr>
              <a:t>июля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040ACE-8C23-4C8F-BBB4-07A7AE1143C9}"/>
              </a:ext>
            </a:extLst>
          </p:cNvPr>
          <p:cNvSpPr txBox="1"/>
          <p:nvPr/>
        </p:nvSpPr>
        <p:spPr>
          <a:xfrm>
            <a:off x="3330493" y="1673845"/>
            <a:ext cx="180452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1400">
                <a:latin typeface="Montserrat Light" pitchFamily="2" charset="-52"/>
              </a:defRPr>
            </a:lvl1pPr>
          </a:lstStyle>
          <a:p>
            <a:r>
              <a:rPr lang="ru-RU" sz="1100" b="1" dirty="0">
                <a:solidFill>
                  <a:srgbClr val="00B050"/>
                </a:solidFill>
              </a:rPr>
              <a:t>7 - 20 июля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90001A-BC35-4BFB-B7DE-568BF763252E}"/>
              </a:ext>
            </a:extLst>
          </p:cNvPr>
          <p:cNvSpPr txBox="1"/>
          <p:nvPr/>
        </p:nvSpPr>
        <p:spPr>
          <a:xfrm>
            <a:off x="5663687" y="1675737"/>
            <a:ext cx="180452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ru-RU" sz="1100" b="1" dirty="0">
                <a:solidFill>
                  <a:srgbClr val="00B050"/>
                </a:solidFill>
                <a:latin typeface="Montserrat Light" pitchFamily="2" charset="-52"/>
              </a:rPr>
              <a:t>21 июля – 3 августа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CD294B-1A1A-4848-96FB-728084B61FD5}"/>
              </a:ext>
            </a:extLst>
          </p:cNvPr>
          <p:cNvSpPr txBox="1"/>
          <p:nvPr/>
        </p:nvSpPr>
        <p:spPr>
          <a:xfrm>
            <a:off x="8094883" y="1675737"/>
            <a:ext cx="180452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ru-RU" sz="1100" b="1" dirty="0">
                <a:solidFill>
                  <a:srgbClr val="00B050"/>
                </a:solidFill>
                <a:latin typeface="Montserrat Light" pitchFamily="2" charset="-52"/>
              </a:rPr>
              <a:t>Август</a:t>
            </a:r>
          </a:p>
        </p:txBody>
      </p:sp>
    </p:spTree>
    <p:extLst>
      <p:ext uri="{BB962C8B-B14F-4D97-AF65-F5344CB8AC3E}">
        <p14:creationId xmlns:p14="http://schemas.microsoft.com/office/powerpoint/2010/main" val="4281094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5"/>
          <p:cNvSpPr txBox="1">
            <a:spLocks noGrp="1"/>
          </p:cNvSpPr>
          <p:nvPr>
            <p:ph type="title"/>
          </p:nvPr>
        </p:nvSpPr>
        <p:spPr>
          <a:xfrm>
            <a:off x="544525" y="286265"/>
            <a:ext cx="9010023" cy="492438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4. Награждение победителей премии</a:t>
            </a:r>
            <a:endParaRPr dirty="0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979F8ED0-2915-476B-BEE8-431ADAE70DCC}"/>
              </a:ext>
            </a:extLst>
          </p:cNvPr>
          <p:cNvSpPr txBox="1"/>
          <p:nvPr/>
        </p:nvSpPr>
        <p:spPr>
          <a:xfrm>
            <a:off x="544525" y="1225929"/>
            <a:ext cx="11041461" cy="2292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spcBef>
                <a:spcPts val="1400"/>
              </a:spcBef>
              <a:defRPr sz="1300">
                <a:solidFill>
                  <a:srgbClr val="929DAD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accent1"/>
                </a:solidFill>
                <a:sym typeface="Helvetica"/>
              </a:rPr>
              <a:t>Награждение победителей происходит на БЕ в августе (дату определяет </a:t>
            </a:r>
            <a:r>
              <a:rPr lang="en-US" sz="1800" dirty="0">
                <a:solidFill>
                  <a:schemeClr val="accent1"/>
                </a:solidFill>
                <a:sym typeface="Helvetica"/>
              </a:rPr>
              <a:t>HR </a:t>
            </a:r>
            <a:r>
              <a:rPr lang="ru-RU" sz="1800" dirty="0">
                <a:solidFill>
                  <a:schemeClr val="accent1"/>
                </a:solidFill>
                <a:sym typeface="Helvetica"/>
              </a:rPr>
              <a:t>БЕ).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accent1"/>
                </a:solidFill>
                <a:sym typeface="Helvetica"/>
              </a:rPr>
              <a:t>Награждает УД БЕ публично в торжественной обстановке.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accent1"/>
                </a:solidFill>
                <a:sym typeface="Helvetica"/>
              </a:rPr>
              <a:t>Победителям вручается стела Сотрудника года и диплом за подписью Генерального директора Хайлэнд Голд.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accent1"/>
                </a:solidFill>
                <a:sym typeface="Helvetica"/>
              </a:rPr>
              <a:t>Победителям также вручается </a:t>
            </a:r>
            <a:r>
              <a:rPr lang="ru-RU" sz="1800" b="1" dirty="0">
                <a:solidFill>
                  <a:schemeClr val="accent1"/>
                </a:solidFill>
                <a:sym typeface="Helvetica"/>
              </a:rPr>
              <a:t>сертификат на сумму 200 тыс. рублей «чистыми» (денежное вознаграждение).</a:t>
            </a:r>
            <a:endParaRPr lang="ru-RU" sz="1400" dirty="0">
              <a:solidFill>
                <a:schemeClr val="accent1"/>
              </a:solidFill>
              <a:sym typeface="Helvetica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5AB0B9-E5CD-4869-BD3E-9F9F592D3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63" y="3429000"/>
            <a:ext cx="1970023" cy="288331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809966-FEA0-472B-94BD-10612B981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657" y="4469276"/>
            <a:ext cx="1928685" cy="1367644"/>
          </a:xfrm>
          <a:prstGeom prst="rect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72AAE3C-C136-4B48-B066-95C9CBE30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4155" y="3859930"/>
            <a:ext cx="1714605" cy="238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01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22B2C-9C05-4A33-AE33-6F3CEFA1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по проекту и ответственные</a:t>
            </a:r>
          </a:p>
        </p:txBody>
      </p:sp>
      <p:graphicFrame>
        <p:nvGraphicFramePr>
          <p:cNvPr id="4" name="Таблица 9">
            <a:extLst>
              <a:ext uri="{FF2B5EF4-FFF2-40B4-BE49-F238E27FC236}">
                <a16:creationId xmlns:a16="http://schemas.microsoft.com/office/drawing/2014/main" id="{12ED15A1-B6C9-43DD-898D-814C0EDB7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801137"/>
              </p:ext>
            </p:extLst>
          </p:nvPr>
        </p:nvGraphicFramePr>
        <p:xfrm>
          <a:off x="522349" y="1052442"/>
          <a:ext cx="11147302" cy="5266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6034">
                  <a:extLst>
                    <a:ext uri="{9D8B030D-6E8A-4147-A177-3AD203B41FA5}">
                      <a16:colId xmlns:a16="http://schemas.microsoft.com/office/drawing/2014/main" val="1948486459"/>
                    </a:ext>
                  </a:extLst>
                </a:gridCol>
                <a:gridCol w="6571188">
                  <a:extLst>
                    <a:ext uri="{9D8B030D-6E8A-4147-A177-3AD203B41FA5}">
                      <a16:colId xmlns:a16="http://schemas.microsoft.com/office/drawing/2014/main" val="983184045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681333252"/>
                    </a:ext>
                  </a:extLst>
                </a:gridCol>
              </a:tblGrid>
              <a:tr h="267952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latin typeface="Montserrat" pitchFamily="2" charset="-52"/>
                        </a:rPr>
                        <a:t>Этап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latin typeface="Montserrat" pitchFamily="2" charset="-52"/>
                        </a:rPr>
                        <a:t>Задача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latin typeface="Montserrat" pitchFamily="2" charset="-52"/>
                        </a:rPr>
                        <a:t>Ответственный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609977"/>
                  </a:ext>
                </a:extLst>
              </a:tr>
              <a:tr h="172015">
                <a:tc rowSpan="2"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latin typeface="Montserrat" pitchFamily="2" charset="-52"/>
                        </a:rPr>
                        <a:t>0.Подготовка 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dirty="0">
                        <a:latin typeface="Montserrat" pitchFamily="2" charset="-52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>
                          <a:solidFill>
                            <a:srgbClr val="00B050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До 9 июня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cap="none" spc="0" baseline="0" dirty="0">
                        <a:solidFill>
                          <a:srgbClr val="00B050"/>
                        </a:solidFill>
                        <a:uFillTx/>
                        <a:latin typeface="Montserrat" pitchFamily="2" charset="-52"/>
                        <a:ea typeface="+mn-ea"/>
                        <a:cs typeface="+mn-cs"/>
                        <a:sym typeface="Helvetica"/>
                      </a:endParaRPr>
                    </a:p>
                    <a:p>
                      <a:pPr algn="l"/>
                      <a:endParaRPr lang="ru-RU" sz="1100" dirty="0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377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Отрисовка макетов стел и дипломов</a:t>
                      </a:r>
                    </a:p>
                    <a:p>
                      <a:pPr marL="171450" marR="0" indent="-171450" algn="l" defTabSz="914377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Подготовка формы для подачи анкет</a:t>
                      </a:r>
                    </a:p>
                    <a:p>
                      <a:pPr marL="171450" marR="0" indent="-171450" algn="l" defTabSz="914377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Подготовка плаката, презентации для ТВ о конкурсе</a:t>
                      </a:r>
                    </a:p>
                    <a:p>
                      <a:pPr marL="171450" marR="0" indent="-171450" algn="l" defTabSz="914377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Подготовка раздела на портале</a:t>
                      </a:r>
                    </a:p>
                    <a:p>
                      <a:pPr marL="171450" marR="0" indent="-171450" algn="l" defTabSz="914377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Подготовка раздела в чат-боте</a:t>
                      </a:r>
                    </a:p>
                    <a:p>
                      <a:pPr marL="171450" marR="0" indent="-171450" algn="l" defTabSz="914377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Коммуникация о Премии на </a:t>
                      </a:r>
                      <a:r>
                        <a:rPr kumimoji="0" 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HR </a:t>
                      </a: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БЕ</a:t>
                      </a:r>
                    </a:p>
                    <a:p>
                      <a:pPr marL="171450" marR="0" indent="-171450" algn="l" defTabSz="914377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Инициация публикаций, рассылок в корпоративных СМИ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latin typeface="Montserrat" pitchFamily="2" charset="-52"/>
                        </a:rPr>
                        <a:t>Овчинникова О.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34327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/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Размещение визуальных материалов на БЕ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PR </a:t>
                      </a: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премии на внутренних локальных мероприятия (собраниях, встречах и пр.)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Производство стел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Montserrat" pitchFamily="2" charset="-52"/>
                        </a:rPr>
                        <a:t>HR </a:t>
                      </a:r>
                      <a:r>
                        <a:rPr lang="ru-RU" sz="1100" dirty="0">
                          <a:latin typeface="Montserrat" pitchFamily="2" charset="-52"/>
                        </a:rPr>
                        <a:t>БЕ</a:t>
                      </a:r>
                    </a:p>
                    <a:p>
                      <a:pPr algn="l"/>
                      <a:endParaRPr lang="ru-RU" sz="1100" dirty="0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5902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marR="0" lvl="0" indent="-22860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ru-RU" sz="11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Montserrat" pitchFamily="2" charset="-52"/>
                          <a:ea typeface="+mn-ea"/>
                          <a:cs typeface="+mn-cs"/>
                          <a:sym typeface="Arial"/>
                        </a:rPr>
                        <a:t>Подача анкет для участия в Премии (номинирование)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dirty="0">
                        <a:solidFill>
                          <a:srgbClr val="00B050"/>
                        </a:solidFill>
                        <a:latin typeface="Montserrat" pitchFamily="2" charset="-52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B050"/>
                          </a:solidFill>
                          <a:latin typeface="Montserrat" pitchFamily="2" charset="-52"/>
                        </a:rPr>
                        <a:t>До 6 июля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Размещение визуальных материалов на БЕ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PR </a:t>
                      </a: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премии на внутренних локальных мероприятия (собраниях, встречах и пр.)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Montserrat" pitchFamily="2" charset="-52"/>
                        </a:rPr>
                        <a:t>HR </a:t>
                      </a:r>
                      <a:r>
                        <a:rPr lang="ru-RU" sz="1100" dirty="0">
                          <a:latin typeface="Montserrat" pitchFamily="2" charset="-52"/>
                        </a:rPr>
                        <a:t>БЕ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0998467"/>
                  </a:ext>
                </a:extLst>
              </a:tr>
              <a:tr h="483906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Montserrat" pitchFamily="2" charset="-52"/>
                          <a:ea typeface="+mn-ea"/>
                          <a:cs typeface="+mn-cs"/>
                          <a:sym typeface="Arial"/>
                        </a:rPr>
                        <a:t>2. Формирование шорт-листа Премии 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Montserrat" pitchFamily="2" charset="-52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B050"/>
                          </a:solidFill>
                          <a:latin typeface="Montserrat" pitchFamily="2" charset="-52"/>
                        </a:rPr>
                        <a:t>7 июля – 20 июля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Аналитика направленных анкет, подготовка шорт-листа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Montserrat" pitchFamily="2" charset="-52"/>
                        </a:rPr>
                        <a:t>HR </a:t>
                      </a:r>
                      <a:r>
                        <a:rPr lang="ru-RU" sz="1100" dirty="0">
                          <a:latin typeface="Montserrat" pitchFamily="2" charset="-52"/>
                        </a:rPr>
                        <a:t>БЕ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354202"/>
                  </a:ext>
                </a:extLst>
              </a:tr>
              <a:tr h="483906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dirty="0">
                          <a:solidFill>
                            <a:schemeClr val="tx1"/>
                          </a:solidFill>
                          <a:latin typeface="Montserrat" pitchFamily="2" charset="-52"/>
                        </a:rPr>
                        <a:t>3. </a:t>
                      </a:r>
                      <a:r>
                        <a:rPr lang="ru-RU" sz="11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Montserrat" pitchFamily="2" charset="-52"/>
                          <a:ea typeface="+mn-ea"/>
                          <a:cs typeface="+mn-cs"/>
                          <a:sym typeface="Arial"/>
                        </a:rPr>
                        <a:t>Определение победителей путем голосования сотрудников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dirty="0">
                        <a:solidFill>
                          <a:srgbClr val="00B050"/>
                        </a:solidFill>
                        <a:latin typeface="Montserrat" pitchFamily="2" charset="-52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B050"/>
                          </a:solidFill>
                          <a:latin typeface="Montserrat" pitchFamily="2" charset="-52"/>
                        </a:rPr>
                        <a:t>21 июля - 3 августа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Организация голосования</a:t>
                      </a:r>
                    </a:p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Montserrat" pitchFamily="2" charset="-52"/>
                          <a:ea typeface="+mn-ea"/>
                          <a:cs typeface="+mn-cs"/>
                          <a:sym typeface="Helvetica"/>
                        </a:rPr>
                        <a:t>Подведение итогов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ru-RU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Montserrat" pitchFamily="2" charset="-52"/>
                        <a:ea typeface="+mn-ea"/>
                        <a:cs typeface="+mn-cs"/>
                        <a:sym typeface="Helvetic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Montserrat" pitchFamily="2" charset="-52"/>
                        </a:rPr>
                        <a:t>HR </a:t>
                      </a:r>
                      <a:r>
                        <a:rPr lang="ru-RU" sz="1100" dirty="0">
                          <a:latin typeface="Montserrat" pitchFamily="2" charset="-52"/>
                        </a:rPr>
                        <a:t>БЕ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dirty="0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81136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Montserrat" pitchFamily="2" charset="-52"/>
                          <a:ea typeface="+mn-ea"/>
                          <a:cs typeface="+mn-cs"/>
                          <a:sym typeface="Arial"/>
                        </a:rPr>
                        <a:t>3. Объявление и награждение победителей Премии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cap="none" spc="0" baseline="0" dirty="0">
                        <a:solidFill>
                          <a:srgbClr val="00B050"/>
                        </a:solidFill>
                        <a:uFillTx/>
                        <a:latin typeface="Montserrat" pitchFamily="2" charset="-52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cap="none" spc="0" baseline="0" dirty="0">
                          <a:solidFill>
                            <a:srgbClr val="00B050"/>
                          </a:solidFill>
                          <a:uFillTx/>
                          <a:latin typeface="Montserrat" pitchFamily="2" charset="-52"/>
                          <a:ea typeface="+mn-ea"/>
                          <a:cs typeface="+mn-cs"/>
                          <a:sym typeface="Arial"/>
                        </a:rPr>
                        <a:t>Август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100" dirty="0">
                          <a:latin typeface="Montserrat" pitchFamily="2" charset="-52"/>
                        </a:rPr>
                        <a:t>Организация награждения на БЕ, вручения награды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Montserrat" pitchFamily="2" charset="-52"/>
                        </a:rPr>
                        <a:t>HR </a:t>
                      </a:r>
                      <a:r>
                        <a:rPr lang="ru-RU" sz="1100" dirty="0">
                          <a:latin typeface="Montserrat" pitchFamily="2" charset="-52"/>
                        </a:rPr>
                        <a:t>БЕ</a:t>
                      </a:r>
                    </a:p>
                    <a:p>
                      <a:pPr algn="l"/>
                      <a:endParaRPr lang="ru-RU" sz="1100" dirty="0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762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ru-RU" sz="11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100" dirty="0">
                          <a:latin typeface="Montserrat" pitchFamily="2" charset="-52"/>
                        </a:rPr>
                        <a:t>Подведение итогов Премии в корпоративных СМИ (чествование победителей: газета, </a:t>
                      </a:r>
                      <a:r>
                        <a:rPr lang="en-US" sz="1100" dirty="0">
                          <a:latin typeface="Montserrat" pitchFamily="2" charset="-52"/>
                        </a:rPr>
                        <a:t>email-</a:t>
                      </a:r>
                      <a:r>
                        <a:rPr lang="ru-RU" sz="1100" dirty="0">
                          <a:latin typeface="Montserrat" pitchFamily="2" charset="-52"/>
                        </a:rPr>
                        <a:t>рассылка, чат бот, портал)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latin typeface="Montserrat" pitchFamily="2" charset="-52"/>
                        </a:rPr>
                        <a:t>Овчинникова О.</a:t>
                      </a:r>
                    </a:p>
                    <a:p>
                      <a:pPr algn="l"/>
                      <a:endParaRPr lang="ru-RU" sz="1100" dirty="0">
                        <a:latin typeface="Montserrat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161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236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22B2C-9C05-4A33-AE33-6F3CEFA1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Практики, которые можно использовать</a:t>
            </a:r>
            <a:r>
              <a:rPr lang="en-US" sz="1800" dirty="0"/>
              <a:t> </a:t>
            </a:r>
            <a:r>
              <a:rPr lang="ru-RU" sz="1800" dirty="0"/>
              <a:t>дополнительно </a:t>
            </a:r>
          </a:p>
        </p:txBody>
      </p:sp>
      <p:pic>
        <p:nvPicPr>
          <p:cNvPr id="5" name="Объект 13">
            <a:extLst>
              <a:ext uri="{FF2B5EF4-FFF2-40B4-BE49-F238E27FC236}">
                <a16:creationId xmlns:a16="http://schemas.microsoft.com/office/drawing/2014/main" id="{0B4EDC6C-92F5-47A6-ADCF-58504576DD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420" b="40667"/>
          <a:stretch/>
        </p:blipFill>
        <p:spPr>
          <a:xfrm>
            <a:off x="469393" y="1287010"/>
            <a:ext cx="4133768" cy="138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5AE0A0-737F-4226-9F91-ACFFD61E16AB}"/>
              </a:ext>
            </a:extLst>
          </p:cNvPr>
          <p:cNvSpPr txBox="1"/>
          <p:nvPr/>
        </p:nvSpPr>
        <p:spPr>
          <a:xfrm>
            <a:off x="733252" y="917682"/>
            <a:ext cx="2397447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Сообщение в чат-бот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73A87B-C630-4356-842F-A99BA613A384}"/>
              </a:ext>
            </a:extLst>
          </p:cNvPr>
          <p:cNvSpPr txBox="1"/>
          <p:nvPr/>
        </p:nvSpPr>
        <p:spPr>
          <a:xfrm>
            <a:off x="5938409" y="1559324"/>
            <a:ext cx="3349631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3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Стена почета с победителями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6D262B9-72DB-4213-B458-4A6A2DD18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274" y="2110173"/>
            <a:ext cx="2647159" cy="218433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68AD6E3-34DC-4D4D-AF08-4378EA212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409" y="2110173"/>
            <a:ext cx="2393823" cy="218818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1274FA7-D5B7-4B7E-BD45-5B2CA855F81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340" y="3617254"/>
            <a:ext cx="2055858" cy="27468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1BA02C-23EB-47C9-A595-6A204EAB8E44}"/>
              </a:ext>
            </a:extLst>
          </p:cNvPr>
          <p:cNvSpPr txBox="1"/>
          <p:nvPr/>
        </p:nvSpPr>
        <p:spPr>
          <a:xfrm>
            <a:off x="862354" y="3126429"/>
            <a:ext cx="466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Стенды с фотографиями номинантов</a:t>
            </a:r>
          </a:p>
        </p:txBody>
      </p:sp>
    </p:spTree>
    <p:extLst>
      <p:ext uri="{BB962C8B-B14F-4D97-AF65-F5344CB8AC3E}">
        <p14:creationId xmlns:p14="http://schemas.microsoft.com/office/powerpoint/2010/main" val="513036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558630"/>
      </p:ext>
    </p:extLst>
  </p:cSld>
  <p:clrMapOvr>
    <a:masterClrMapping/>
  </p:clrMapOvr>
</p:sld>
</file>

<file path=ppt/theme/theme1.xml><?xml version="1.0" encoding="utf-8"?>
<a:theme xmlns:a="http://schemas.openxmlformats.org/drawingml/2006/main" name="HG_1">
  <a:themeElements>
    <a:clrScheme name="HG 2024">
      <a:dk1>
        <a:srgbClr val="000000"/>
      </a:dk1>
      <a:lt1>
        <a:srgbClr val="FFFFFF"/>
      </a:lt1>
      <a:dk2>
        <a:srgbClr val="525D6D"/>
      </a:dk2>
      <a:lt2>
        <a:srgbClr val="E7E6E6"/>
      </a:lt2>
      <a:accent1>
        <a:srgbClr val="183459"/>
      </a:accent1>
      <a:accent2>
        <a:srgbClr val="8E6928"/>
      </a:accent2>
      <a:accent3>
        <a:srgbClr val="3B62AD"/>
      </a:accent3>
      <a:accent4>
        <a:srgbClr val="D2A179"/>
      </a:accent4>
      <a:accent5>
        <a:srgbClr val="4A827C"/>
      </a:accent5>
      <a:accent6>
        <a:srgbClr val="8FC3DE"/>
      </a:accent6>
      <a:hlink>
        <a:srgbClr val="466BC8"/>
      </a:hlink>
      <a:folHlink>
        <a:srgbClr val="6F7D9F"/>
      </a:folHlink>
    </a:clrScheme>
    <a:fontScheme name="Custom 2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06D889E-7256-D342-A440-DBF83F326708}" vid="{DAA3B053-4211-7949-84EA-D6EA18CAF0B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HG_1</Template>
  <TotalTime>1532</TotalTime>
  <Words>2109</Words>
  <Application>Microsoft Office PowerPoint</Application>
  <PresentationFormat>Широкоэкранный</PresentationFormat>
  <Paragraphs>251</Paragraphs>
  <Slides>15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Calibri</vt:lpstr>
      <vt:lpstr>Montserrat</vt:lpstr>
      <vt:lpstr>Montserrat </vt:lpstr>
      <vt:lpstr>Montserrat Bold</vt:lpstr>
      <vt:lpstr>Montserrat Light</vt:lpstr>
      <vt:lpstr>Montserrat Regular</vt:lpstr>
      <vt:lpstr>HG_1</vt:lpstr>
      <vt:lpstr>Презентация PowerPoint</vt:lpstr>
      <vt:lpstr>Цель ПРЕМИИ</vt:lpstr>
      <vt:lpstr>номинации</vt:lpstr>
      <vt:lpstr>Ключевые этапы и сроки Премии</vt:lpstr>
      <vt:lpstr>Требования к кандидату на премию</vt:lpstr>
      <vt:lpstr>ПОДАЧА ЗАЯВОК НА УЧАСТИЕ</vt:lpstr>
      <vt:lpstr>Анкета на участие в ПРЕМИИ </vt:lpstr>
      <vt:lpstr>ШОРТ-ЛИСТ ПРЕМИИ</vt:lpstr>
      <vt:lpstr>ШОРТ-ЛИСТ ПРЕМИИ</vt:lpstr>
      <vt:lpstr>Презентация PowerPoint</vt:lpstr>
      <vt:lpstr>Этапы и сроки проведения Премии</vt:lpstr>
      <vt:lpstr>4. Награждение победителей премии</vt:lpstr>
      <vt:lpstr>Задачи по проекту и ответственные</vt:lpstr>
      <vt:lpstr>Практики, которые можно использовать дополнительно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Andrey Zhurin</dc:creator>
  <cp:lastModifiedBy>Овчинникова Олеся Николаевна</cp:lastModifiedBy>
  <cp:revision>32</cp:revision>
  <dcterms:created xsi:type="dcterms:W3CDTF">2024-03-04T04:13:59Z</dcterms:created>
  <dcterms:modified xsi:type="dcterms:W3CDTF">2025-06-04T09:42:41Z</dcterms:modified>
</cp:coreProperties>
</file>